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6.xml" ContentType="application/vnd.openxmlformats-officedocument.theme+xml"/>
  <Override PartName="/ppt/presentation.xml" ContentType="application/vnd.openxmlformats-officedocument.presentationml.presentation.main+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29.xml" ContentType="application/vnd.openxmlformats-officedocument.presentationml.notesSlide+xml"/>
  <Override PartName="/ppt/notesSlides/notesSlide12.xml" ContentType="application/vnd.openxmlformats-officedocument.presentationml.notesSlide+xml"/>
  <Override PartName="/ppt/notesSlides/notesSlide28.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pPr defTabSz="914400">
              <a:lnSpc>
                <a:spcPct val="90000"/>
              </a:lnSpc>
            </a:pPr>
            <a:r>
              <a:rPr lang="es-NI" sz="6000" b="0" u="none" strike="noStrike">
                <a:solidFill>
                  <a:schemeClr val="lt1"/>
                </a:solidFill>
                <a:effectLst/>
                <a:uFillTx/>
                <a:latin typeface="Franklin Gothic Medium"/>
              </a:rPr>
              <a:t>Pulse para desplazar la diapositiva</a:t>
            </a:r>
            <a:endParaRPr lang="es-NI" sz="6000" b="0" u="none" strike="noStrike">
              <a:solidFill>
                <a:schemeClr val="lt1"/>
              </a:solidFill>
              <a:effectLst/>
              <a:uFillTx/>
              <a:latin typeface="Franklin Gothic Medium"/>
            </a:endParaRPr>
          </a:p>
        </p:txBody>
      </p:sp>
      <p:sp>
        <p:nvSpPr>
          <p:cNvPr id="28"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s-NI" sz="2000" b="0" u="none" strike="noStrike">
                <a:solidFill>
                  <a:srgbClr val="000000"/>
                </a:solidFill>
                <a:effectLst/>
                <a:uFillTx/>
                <a:latin typeface="Arial"/>
              </a:rPr>
              <a:t>Pulse para editar el formato de las notas</a:t>
            </a:r>
            <a:endParaRPr lang="es-NI" sz="2000" b="0" u="none" strike="noStrike">
              <a:solidFill>
                <a:srgbClr val="000000"/>
              </a:solidFill>
              <a:effectLst/>
              <a:uFillTx/>
              <a:latin typeface="Arial"/>
            </a:endParaRPr>
          </a:p>
        </p:txBody>
      </p:sp>
      <p:sp>
        <p:nvSpPr>
          <p:cNvPr id="29"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s-NI" sz="1400" b="0" u="none" strike="noStrike">
                <a:solidFill>
                  <a:srgbClr val="000000"/>
                </a:solidFill>
                <a:effectLst/>
                <a:uFillTx/>
                <a:latin typeface="Times New Roman"/>
              </a:rPr>
              <a:t>&lt;cabecera&gt;</a:t>
            </a:r>
            <a:endParaRPr lang="es-NI" sz="1400" b="0" u="none" strike="noStrike">
              <a:solidFill>
                <a:srgbClr val="000000"/>
              </a:solidFill>
              <a:effectLst/>
              <a:uFillTx/>
              <a:latin typeface="Times New Roman"/>
            </a:endParaRPr>
          </a:p>
        </p:txBody>
      </p:sp>
      <p:sp>
        <p:nvSpPr>
          <p:cNvPr id="30"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s-NI" sz="1400" b="0" u="none" strike="noStrike">
                <a:solidFill>
                  <a:srgbClr val="000000"/>
                </a:solidFill>
                <a:effectLst/>
                <a:uFillTx/>
                <a:latin typeface="Times New Roman"/>
              </a:defRPr>
            </a:lvl1pPr>
          </a:lstStyle>
          <a:p>
            <a:pPr indent="0" algn="r">
              <a:buNone/>
            </a:pPr>
            <a:r>
              <a:rPr lang="es-NI" sz="1400" b="0" u="none" strike="noStrike">
                <a:solidFill>
                  <a:srgbClr val="000000"/>
                </a:solidFill>
                <a:effectLst/>
                <a:uFillTx/>
                <a:latin typeface="Times New Roman"/>
              </a:rPr>
              <a:t>&lt;fecha/hora&gt;</a:t>
            </a:r>
            <a:endParaRPr lang="es-NI" sz="1400" b="0" u="none" strike="noStrike">
              <a:solidFill>
                <a:srgbClr val="000000"/>
              </a:solidFill>
              <a:effectLst/>
              <a:uFillTx/>
              <a:latin typeface="Times New Roman"/>
            </a:endParaRPr>
          </a:p>
        </p:txBody>
      </p:sp>
      <p:sp>
        <p:nvSpPr>
          <p:cNvPr id="31"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s-NI" sz="1400" b="0" u="none" strike="noStrike">
                <a:solidFill>
                  <a:srgbClr val="000000"/>
                </a:solidFill>
                <a:effectLst/>
                <a:uFillTx/>
                <a:latin typeface="Times New Roman"/>
              </a:defRPr>
            </a:lvl1pPr>
          </a:lstStyle>
          <a:p>
            <a:pPr indent="0" algn="l">
              <a:buNone/>
            </a:pPr>
            <a:r>
              <a:rPr lang="es-NI" sz="1400" b="0" u="none" strike="noStrike">
                <a:solidFill>
                  <a:srgbClr val="000000"/>
                </a:solidFill>
                <a:effectLst/>
                <a:uFillTx/>
                <a:latin typeface="Times New Roman"/>
              </a:rPr>
              <a:t>&lt;pie de página&gt;</a:t>
            </a:r>
            <a:endParaRPr lang="es-NI" sz="1400" b="0" u="none" strike="noStrike">
              <a:solidFill>
                <a:srgbClr val="000000"/>
              </a:solidFill>
              <a:effectLst/>
              <a:uFillTx/>
              <a:latin typeface="Times New Roman"/>
            </a:endParaRPr>
          </a:p>
        </p:txBody>
      </p:sp>
      <p:sp>
        <p:nvSpPr>
          <p:cNvPr id="32"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s-NI" sz="1400" b="0" u="none" strike="noStrike">
                <a:solidFill>
                  <a:srgbClr val="000000"/>
                </a:solidFill>
                <a:effectLst/>
                <a:uFillTx/>
                <a:latin typeface="Times New Roman"/>
              </a:defRPr>
            </a:lvl1pPr>
          </a:lstStyle>
          <a:p>
            <a:pPr indent="0" algn="r">
              <a:buNone/>
            </a:pPr>
            <a:fld id="{EE84CF29-A26D-43D8-A594-BCE311B31052}" type="slidenum">
              <a:rPr lang="es-NI" sz="1400" b="0" u="none" strike="noStrike">
                <a:solidFill>
                  <a:srgbClr val="000000"/>
                </a:solidFill>
                <a:effectLst/>
                <a:uFillTx/>
                <a:latin typeface="Times New Roman"/>
              </a:rPr>
              <a:t>&lt;número&gt;</a:t>
            </a:fld>
            <a:endParaRPr lang="es-NI"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sldImg"/>
          </p:nvPr>
        </p:nvSpPr>
        <p:spPr>
          <a:xfrm>
            <a:off x="1295280" y="754200"/>
            <a:ext cx="5181120" cy="3771360"/>
          </a:xfrm>
          <a:prstGeom prst="rect">
            <a:avLst/>
          </a:prstGeom>
          <a:ln w="0">
            <a:noFill/>
          </a:ln>
        </p:spPr>
      </p:sp>
      <p:sp>
        <p:nvSpPr>
          <p:cNvPr id="200"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Caso de apertura: Un equipo debe desarrollar un proyecto con integrantes que trabajan desde lugares distintos. ¿Qué necesitarían para comunicarse, organizarse y producir juntos?</a:t>
            </a:r>
            <a:endParaRPr lang="es-NI" sz="2000" b="0" u="none" strike="noStrike">
              <a:solidFill>
                <a:srgbClr val="000000"/>
              </a:solidFill>
              <a:effectLst/>
              <a:uFillTx/>
              <a:latin typeface="Arial"/>
            </a:endParaRPr>
          </a:p>
        </p:txBody>
      </p:sp>
      <p:sp>
        <p:nvSpPr>
          <p:cNvPr id="201" name="PlaceHolder 3"/>
          <p:cNvSpPr>
            <a:spLocks noGrp="1"/>
          </p:cNvSpPr>
          <p:nvPr>
            <p:ph type="sldNum" idx="4"/>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AD4E8AB-C3E6-4CEF-B9AF-6442DC2BC592}"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sldImg"/>
          </p:nvPr>
        </p:nvSpPr>
        <p:spPr>
          <a:xfrm>
            <a:off x="1295280" y="754200"/>
            <a:ext cx="5181120" cy="3771360"/>
          </a:xfrm>
          <a:prstGeom prst="rect">
            <a:avLst/>
          </a:prstGeom>
          <a:ln w="0">
            <a:noFill/>
          </a:ln>
        </p:spPr>
      </p:sp>
      <p:sp>
        <p:nvSpPr>
          <p:cNvPr id="203"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Presentar el logro IL2.1. Pregunta detonante: ¿Una plataforma es simplemente una aplicación o puede transformar la forma en que trabaja una organización?</a:t>
            </a:r>
            <a:endParaRPr lang="es-NI" sz="2000" b="0" u="none" strike="noStrike">
              <a:solidFill>
                <a:srgbClr val="000000"/>
              </a:solidFill>
              <a:effectLst/>
              <a:uFillTx/>
              <a:latin typeface="Arial"/>
            </a:endParaRPr>
          </a:p>
        </p:txBody>
      </p:sp>
      <p:sp>
        <p:nvSpPr>
          <p:cNvPr id="204" name="PlaceHolder 3"/>
          <p:cNvSpPr>
            <a:spLocks noGrp="1"/>
          </p:cNvSpPr>
          <p:nvPr>
            <p:ph type="sldNum" idx="5"/>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BFA0C01-7175-47C0-BD58-2A42214FFC76}"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sldImg"/>
          </p:nvPr>
        </p:nvSpPr>
        <p:spPr>
          <a:xfrm>
            <a:off x="1295280" y="754200"/>
            <a:ext cx="5181120" cy="3771360"/>
          </a:xfrm>
          <a:prstGeom prst="rect">
            <a:avLst/>
          </a:prstGeom>
          <a:ln w="0">
            <a:noFill/>
          </a:ln>
        </p:spPr>
      </p:sp>
      <p:sp>
        <p:nvSpPr>
          <p:cNvPr id="206"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Introducir el bloque. Pedir ejemplos cotidianos de actividades que antes requerían presencia física y hoy se realizan mediante plataformas.</a:t>
            </a:r>
            <a:endParaRPr lang="es-NI" sz="2000" b="0" u="none" strike="noStrike">
              <a:solidFill>
                <a:srgbClr val="000000"/>
              </a:solidFill>
              <a:effectLst/>
              <a:uFillTx/>
              <a:latin typeface="Arial"/>
            </a:endParaRPr>
          </a:p>
        </p:txBody>
      </p:sp>
      <p:sp>
        <p:nvSpPr>
          <p:cNvPr id="207" name="PlaceHolder 3"/>
          <p:cNvSpPr>
            <a:spLocks noGrp="1"/>
          </p:cNvSpPr>
          <p:nvPr>
            <p:ph type="sldNum" idx="6"/>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31D86AF-EC94-43E3-BE6B-1A052F5AA4A4}"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sldImg"/>
          </p:nvPr>
        </p:nvSpPr>
        <p:spPr>
          <a:xfrm>
            <a:off x="1295280" y="754200"/>
            <a:ext cx="5181120" cy="3771360"/>
          </a:xfrm>
          <a:prstGeom prst="rect">
            <a:avLst/>
          </a:prstGeom>
          <a:ln w="0">
            <a:noFill/>
          </a:ln>
        </p:spPr>
      </p:sp>
      <p:sp>
        <p:nvSpPr>
          <p:cNvPr id="209"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Explicar Internet como infraestructura habilitante. Pregunta: ¿Podría existir una plataforma global de colaboración sin una infraestructura de interconexión común? Caso: equipo distribuido que comparte documentos y realiza videollamadas.</a:t>
            </a:r>
            <a:endParaRPr lang="es-NI" sz="2000" b="0" u="none" strike="noStrike">
              <a:solidFill>
                <a:srgbClr val="000000"/>
              </a:solidFill>
              <a:effectLst/>
              <a:uFillTx/>
              <a:latin typeface="Arial"/>
            </a:endParaRPr>
          </a:p>
        </p:txBody>
      </p:sp>
      <p:sp>
        <p:nvSpPr>
          <p:cNvPr id="210" name="PlaceHolder 3"/>
          <p:cNvSpPr>
            <a:spLocks noGrp="1"/>
          </p:cNvSpPr>
          <p:nvPr>
            <p:ph type="sldNum" idx="7"/>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C13340E-3572-43F8-A26D-9338C01AA878}"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sldImg"/>
          </p:nvPr>
        </p:nvSpPr>
        <p:spPr>
          <a:xfrm>
            <a:off x="1295280" y="754200"/>
            <a:ext cx="5181120" cy="3771360"/>
          </a:xfrm>
          <a:prstGeom prst="rect">
            <a:avLst/>
          </a:prstGeom>
          <a:ln w="0">
            <a:noFill/>
          </a:ln>
        </p:spPr>
      </p:sp>
      <p:sp>
        <p:nvSpPr>
          <p:cNvPr id="212"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Evitar presentar las etapas como sustituciones absolutas: se superponen. Pregunta: ¿Qué cambia cuando el usuario deja de ser principalmente lector y se convierte en participante? Caso: página institucional → red social → espacio colaborativo.</a:t>
            </a:r>
            <a:endParaRPr lang="es-NI" sz="2000" b="0" u="none" strike="noStrike">
              <a:solidFill>
                <a:srgbClr val="000000"/>
              </a:solidFill>
              <a:effectLst/>
              <a:uFillTx/>
              <a:latin typeface="Arial"/>
            </a:endParaRPr>
          </a:p>
        </p:txBody>
      </p:sp>
      <p:sp>
        <p:nvSpPr>
          <p:cNvPr id="213" name="PlaceHolder 3"/>
          <p:cNvSpPr>
            <a:spLocks noGrp="1"/>
          </p:cNvSpPr>
          <p:nvPr>
            <p:ph type="sldNum" idx="8"/>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5769A3A-35E8-4B8D-A029-7BF189DC3CB2}"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sldImg"/>
          </p:nvPr>
        </p:nvSpPr>
        <p:spPr>
          <a:xfrm>
            <a:off x="1295280" y="754200"/>
            <a:ext cx="5181120" cy="3771360"/>
          </a:xfrm>
          <a:prstGeom prst="rect">
            <a:avLst/>
          </a:prstGeom>
          <a:ln w="0">
            <a:noFill/>
          </a:ln>
        </p:spPr>
      </p:sp>
      <p:sp>
        <p:nvSpPr>
          <p:cNvPr id="215"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Relacionar evolución Web con colaboración. Pregunta: ¿Qué problema aparece cuando un equipo solo puede comunicarse, pero no organizar tareas ni trabajar sobre recursos comunes?</a:t>
            </a:r>
            <a:endParaRPr lang="es-NI" sz="2000" b="0" u="none" strike="noStrike">
              <a:solidFill>
                <a:srgbClr val="000000"/>
              </a:solidFill>
              <a:effectLst/>
              <a:uFillTx/>
              <a:latin typeface="Arial"/>
            </a:endParaRPr>
          </a:p>
        </p:txBody>
      </p:sp>
      <p:sp>
        <p:nvSpPr>
          <p:cNvPr id="216" name="PlaceHolder 3"/>
          <p:cNvSpPr>
            <a:spLocks noGrp="1"/>
          </p:cNvSpPr>
          <p:nvPr>
            <p:ph type="sldNum" idx="9"/>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6AA3477-5350-418A-B55C-3A33681DFA01}"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sldImg"/>
          </p:nvPr>
        </p:nvSpPr>
        <p:spPr>
          <a:xfrm>
            <a:off x="1295280" y="754200"/>
            <a:ext cx="5181120" cy="3771360"/>
          </a:xfrm>
          <a:prstGeom prst="rect">
            <a:avLst/>
          </a:prstGeom>
          <a:ln w="0">
            <a:noFill/>
          </a:ln>
        </p:spPr>
      </p:sp>
      <p:sp>
        <p:nvSpPr>
          <p:cNvPr id="218"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Explicar origen histórico sin convertir la clase en una cronología. Pregunta: ¿Qué necesidades de los grupos intentaba resolver el groupware? Caso: documentos enviados por correo frente a un espacio compartido.</a:t>
            </a:r>
            <a:endParaRPr lang="es-NI" sz="2000" b="0" u="none" strike="noStrike">
              <a:solidFill>
                <a:srgbClr val="000000"/>
              </a:solidFill>
              <a:effectLst/>
              <a:uFillTx/>
              <a:latin typeface="Arial"/>
            </a:endParaRPr>
          </a:p>
        </p:txBody>
      </p:sp>
      <p:sp>
        <p:nvSpPr>
          <p:cNvPr id="219" name="PlaceHolder 3"/>
          <p:cNvSpPr>
            <a:spLocks noGrp="1"/>
          </p:cNvSpPr>
          <p:nvPr>
            <p:ph type="sldNum" idx="10"/>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EA02E58-B044-44CE-B9F5-715C334A4E68}"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sldImg"/>
          </p:nvPr>
        </p:nvSpPr>
        <p:spPr>
          <a:xfrm>
            <a:off x="1295280" y="754200"/>
            <a:ext cx="5181120" cy="3771360"/>
          </a:xfrm>
          <a:prstGeom prst="rect">
            <a:avLst/>
          </a:prstGeom>
          <a:ln w="0">
            <a:noFill/>
          </a:ln>
        </p:spPr>
      </p:sp>
      <p:sp>
        <p:nvSpPr>
          <p:cNvPr id="221"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Transición al análisis interno. Pregunta: ¿Basta con instalar una herramienta para que exista colaboración efectiva?</a:t>
            </a:r>
            <a:endParaRPr lang="es-NI" sz="2000" b="0" u="none" strike="noStrike">
              <a:solidFill>
                <a:srgbClr val="000000"/>
              </a:solidFill>
              <a:effectLst/>
              <a:uFillTx/>
              <a:latin typeface="Arial"/>
            </a:endParaRPr>
          </a:p>
        </p:txBody>
      </p:sp>
      <p:sp>
        <p:nvSpPr>
          <p:cNvPr id="222" name="PlaceHolder 3"/>
          <p:cNvSpPr>
            <a:spLocks noGrp="1"/>
          </p:cNvSpPr>
          <p:nvPr>
            <p:ph type="sldNum" idx="11"/>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E0F8731-0EBC-4233-9F75-97A73823A039}"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sldImg"/>
          </p:nvPr>
        </p:nvSpPr>
        <p:spPr>
          <a:xfrm>
            <a:off x="1295280" y="754200"/>
            <a:ext cx="5181120" cy="3771360"/>
          </a:xfrm>
          <a:prstGeom prst="rect">
            <a:avLst/>
          </a:prstGeom>
          <a:ln w="0">
            <a:noFill/>
          </a:ln>
        </p:spPr>
      </p:sp>
      <p:sp>
        <p:nvSpPr>
          <p:cNvPr id="224"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Destacar que la plataforma no es solo software. Caso: una institución integra mensajería, archivos, calendario y tareas para coordinar un proyecto.</a:t>
            </a:r>
            <a:endParaRPr lang="es-NI" sz="2000" b="0" u="none" strike="noStrike">
              <a:solidFill>
                <a:srgbClr val="000000"/>
              </a:solidFill>
              <a:effectLst/>
              <a:uFillTx/>
              <a:latin typeface="Arial"/>
            </a:endParaRPr>
          </a:p>
        </p:txBody>
      </p:sp>
      <p:sp>
        <p:nvSpPr>
          <p:cNvPr id="225" name="PlaceHolder 3"/>
          <p:cNvSpPr>
            <a:spLocks noGrp="1"/>
          </p:cNvSpPr>
          <p:nvPr>
            <p:ph type="sldNum" idx="12"/>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BFCBF07-0657-405D-AA59-AF47E31164D6}"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sldImg"/>
          </p:nvPr>
        </p:nvSpPr>
        <p:spPr>
          <a:xfrm>
            <a:off x="1295280" y="754200"/>
            <a:ext cx="5181120" cy="3771360"/>
          </a:xfrm>
          <a:prstGeom prst="rect">
            <a:avLst/>
          </a:prstGeom>
          <a:ln w="0">
            <a:noFill/>
          </a:ln>
        </p:spPr>
      </p:sp>
      <p:sp>
        <p:nvSpPr>
          <p:cNvPr id="227"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Pregunta: ¿Cuál de estas necesidades suele ser más difícil en un trabajo grupal? Conectar respuestas con el modelo 3C.</a:t>
            </a:r>
            <a:endParaRPr lang="es-NI" sz="2000" b="0" u="none" strike="noStrike">
              <a:solidFill>
                <a:srgbClr val="000000"/>
              </a:solidFill>
              <a:effectLst/>
              <a:uFillTx/>
              <a:latin typeface="Arial"/>
            </a:endParaRPr>
          </a:p>
        </p:txBody>
      </p:sp>
      <p:sp>
        <p:nvSpPr>
          <p:cNvPr id="228" name="PlaceHolder 3"/>
          <p:cNvSpPr>
            <a:spLocks noGrp="1"/>
          </p:cNvSpPr>
          <p:nvPr>
            <p:ph type="sldNum" idx="13"/>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3612F5E-7C3C-4046-A691-235E99565AC3}"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sldImg"/>
          </p:nvPr>
        </p:nvSpPr>
        <p:spPr>
          <a:xfrm>
            <a:off x="1295280" y="754200"/>
            <a:ext cx="5181120" cy="3771360"/>
          </a:xfrm>
          <a:prstGeom prst="rect">
            <a:avLst/>
          </a:prstGeom>
          <a:ln w="0">
            <a:noFill/>
          </a:ln>
        </p:spPr>
      </p:sp>
      <p:sp>
        <p:nvSpPr>
          <p:cNvPr id="230"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Presentar el modelo como lente de análisis. Pregunta: cuando un equipo usa una videollamada, un calendario y un documento compartido, ¿qué C está presente en cada acción?</a:t>
            </a:r>
            <a:endParaRPr lang="es-NI" sz="2000" b="0" u="none" strike="noStrike">
              <a:solidFill>
                <a:srgbClr val="000000"/>
              </a:solidFill>
              <a:effectLst/>
              <a:uFillTx/>
              <a:latin typeface="Arial"/>
            </a:endParaRPr>
          </a:p>
        </p:txBody>
      </p:sp>
      <p:sp>
        <p:nvSpPr>
          <p:cNvPr id="231" name="PlaceHolder 3"/>
          <p:cNvSpPr>
            <a:spLocks noGrp="1"/>
          </p:cNvSpPr>
          <p:nvPr>
            <p:ph type="sldNum" idx="14"/>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62083FC-F64F-4838-BE2C-0DAA7FB59EB0}"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sldImg"/>
          </p:nvPr>
        </p:nvSpPr>
        <p:spPr>
          <a:xfrm>
            <a:off x="1295280" y="754200"/>
            <a:ext cx="5181120" cy="3771360"/>
          </a:xfrm>
          <a:prstGeom prst="rect">
            <a:avLst/>
          </a:prstGeom>
          <a:ln w="0">
            <a:noFill/>
          </a:ln>
        </p:spPr>
      </p:sp>
      <p:sp>
        <p:nvSpPr>
          <p:cNvPr id="233"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Distinguir síncrono y asíncrono. Pregunta: ¿cuándo conviene responder en tiempo real y cuándo es preferible dejar registro para responder después? Caso: foro académico vs reunión urgente.</a:t>
            </a:r>
            <a:endParaRPr lang="es-NI" sz="2000" b="0" u="none" strike="noStrike">
              <a:solidFill>
                <a:srgbClr val="000000"/>
              </a:solidFill>
              <a:effectLst/>
              <a:uFillTx/>
              <a:latin typeface="Arial"/>
            </a:endParaRPr>
          </a:p>
        </p:txBody>
      </p:sp>
      <p:sp>
        <p:nvSpPr>
          <p:cNvPr id="234" name="PlaceHolder 3"/>
          <p:cNvSpPr>
            <a:spLocks noGrp="1"/>
          </p:cNvSpPr>
          <p:nvPr>
            <p:ph type="sldNum" idx="15"/>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E665CA9-DD33-4F87-AB16-7D62CCB2EE5D}"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sldImg"/>
          </p:nvPr>
        </p:nvSpPr>
        <p:spPr>
          <a:xfrm>
            <a:off x="1295280" y="754200"/>
            <a:ext cx="5181120" cy="3771360"/>
          </a:xfrm>
          <a:prstGeom prst="rect">
            <a:avLst/>
          </a:prstGeom>
          <a:ln w="0">
            <a:noFill/>
          </a:ln>
        </p:spPr>
      </p:sp>
      <p:sp>
        <p:nvSpPr>
          <p:cNvPr id="236"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Explicar que coordinar no es producir el resultado. Pregunta: ¿Qué ocurre si todos saben qué hacer, pero nadie sabe quién lo hará ni para cuándo? Caso: proyecto estudiantil con responsables y fechas.</a:t>
            </a:r>
            <a:endParaRPr lang="es-NI" sz="2000" b="0" u="none" strike="noStrike">
              <a:solidFill>
                <a:srgbClr val="000000"/>
              </a:solidFill>
              <a:effectLst/>
              <a:uFillTx/>
              <a:latin typeface="Arial"/>
            </a:endParaRPr>
          </a:p>
        </p:txBody>
      </p:sp>
      <p:sp>
        <p:nvSpPr>
          <p:cNvPr id="237" name="PlaceHolder 3"/>
          <p:cNvSpPr>
            <a:spLocks noGrp="1"/>
          </p:cNvSpPr>
          <p:nvPr>
            <p:ph type="sldNum" idx="16"/>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3F74151-D940-40D3-AABA-F6DB659DDA28}"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sldImg"/>
          </p:nvPr>
        </p:nvSpPr>
        <p:spPr>
          <a:xfrm>
            <a:off x="1295280" y="754200"/>
            <a:ext cx="5181120" cy="3771360"/>
          </a:xfrm>
          <a:prstGeom prst="rect">
            <a:avLst/>
          </a:prstGeom>
          <a:ln w="0">
            <a:noFill/>
          </a:ln>
        </p:spPr>
      </p:sp>
      <p:sp>
        <p:nvSpPr>
          <p:cNvPr id="239"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Ejemplo: edición colectiva de informe. Pregunta: ¿qué problemas aparecen si varias personas modifican un mismo recurso sin reglas?</a:t>
            </a:r>
            <a:endParaRPr lang="es-NI" sz="2000" b="0" u="none" strike="noStrike">
              <a:solidFill>
                <a:srgbClr val="000000"/>
              </a:solidFill>
              <a:effectLst/>
              <a:uFillTx/>
              <a:latin typeface="Arial"/>
            </a:endParaRPr>
          </a:p>
        </p:txBody>
      </p:sp>
      <p:sp>
        <p:nvSpPr>
          <p:cNvPr id="240" name="PlaceHolder 3"/>
          <p:cNvSpPr>
            <a:spLocks noGrp="1"/>
          </p:cNvSpPr>
          <p:nvPr>
            <p:ph type="sldNum" idx="17"/>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621ED6D-EDF0-48A4-B3B0-99268B7FC19C}"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1295280" y="754200"/>
            <a:ext cx="5181120" cy="3771360"/>
          </a:xfrm>
          <a:prstGeom prst="rect">
            <a:avLst/>
          </a:prstGeom>
          <a:ln w="0">
            <a:noFill/>
          </a:ln>
        </p:spPr>
      </p:sp>
      <p:sp>
        <p:nvSpPr>
          <p:cNvPr id="242"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Pedir clasificar herramientas conocidas según tipo de interacción. Caso: correo, foro, videollamada y documento colaborativo.</a:t>
            </a:r>
            <a:endParaRPr lang="es-NI" sz="2000" b="0" u="none" strike="noStrike">
              <a:solidFill>
                <a:srgbClr val="000000"/>
              </a:solidFill>
              <a:effectLst/>
              <a:uFillTx/>
              <a:latin typeface="Arial"/>
            </a:endParaRPr>
          </a:p>
        </p:txBody>
      </p:sp>
      <p:sp>
        <p:nvSpPr>
          <p:cNvPr id="243" name="PlaceHolder 3"/>
          <p:cNvSpPr>
            <a:spLocks noGrp="1"/>
          </p:cNvSpPr>
          <p:nvPr>
            <p:ph type="sldNum" idx="18"/>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CB54B26-942D-4741-B941-CF71E0A54AD3}"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sldImg"/>
          </p:nvPr>
        </p:nvSpPr>
        <p:spPr>
          <a:xfrm>
            <a:off x="1295280" y="754200"/>
            <a:ext cx="5181120" cy="3771360"/>
          </a:xfrm>
          <a:prstGeom prst="rect">
            <a:avLst/>
          </a:prstGeom>
          <a:ln w="0">
            <a:noFill/>
          </a:ln>
        </p:spPr>
      </p:sp>
      <p:sp>
        <p:nvSpPr>
          <p:cNvPr id="245"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Presentar arquitectura como soporte, no como fin. Pregunta: ¿qué gana una institución al usar servicios en la nube? ¿Qué nuevas dependencias puede asumir?</a:t>
            </a:r>
            <a:endParaRPr lang="es-NI" sz="2000" b="0" u="none" strike="noStrike">
              <a:solidFill>
                <a:srgbClr val="000000"/>
              </a:solidFill>
              <a:effectLst/>
              <a:uFillTx/>
              <a:latin typeface="Arial"/>
            </a:endParaRPr>
          </a:p>
        </p:txBody>
      </p:sp>
      <p:sp>
        <p:nvSpPr>
          <p:cNvPr id="246" name="PlaceHolder 3"/>
          <p:cNvSpPr>
            <a:spLocks noGrp="1"/>
          </p:cNvSpPr>
          <p:nvPr>
            <p:ph type="sldNum" idx="19"/>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E90EA3F-005F-44D6-88F5-2B58C8FD5055}"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sldImg"/>
          </p:nvPr>
        </p:nvSpPr>
        <p:spPr>
          <a:xfrm>
            <a:off x="1295280" y="754200"/>
            <a:ext cx="5181120" cy="3771360"/>
          </a:xfrm>
          <a:prstGeom prst="rect">
            <a:avLst/>
          </a:prstGeom>
          <a:ln w="0">
            <a:noFill/>
          </a:ln>
        </p:spPr>
      </p:sp>
      <p:sp>
        <p:nvSpPr>
          <p:cNvPr id="248"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Explicar interoperabilidad en lenguaje accesible. Caso: plataforma que integra calendario, almacenamiento, videollamadas y gestión de tareas.</a:t>
            </a:r>
            <a:endParaRPr lang="es-NI" sz="2000" b="0" u="none" strike="noStrike">
              <a:solidFill>
                <a:srgbClr val="000000"/>
              </a:solidFill>
              <a:effectLst/>
              <a:uFillTx/>
              <a:latin typeface="Arial"/>
            </a:endParaRPr>
          </a:p>
        </p:txBody>
      </p:sp>
      <p:sp>
        <p:nvSpPr>
          <p:cNvPr id="249" name="PlaceHolder 3"/>
          <p:cNvSpPr>
            <a:spLocks noGrp="1"/>
          </p:cNvSpPr>
          <p:nvPr>
            <p:ph type="sldNum" idx="20"/>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6439304-4CEB-42C8-8D62-5EAEB5693CF3}"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sldImg"/>
          </p:nvPr>
        </p:nvSpPr>
        <p:spPr>
          <a:xfrm>
            <a:off x="1295280" y="754200"/>
            <a:ext cx="5181120" cy="3771360"/>
          </a:xfrm>
          <a:prstGeom prst="rect">
            <a:avLst/>
          </a:prstGeom>
          <a:ln w="0">
            <a:noFill/>
          </a:ln>
        </p:spPr>
      </p:sp>
      <p:sp>
        <p:nvSpPr>
          <p:cNvPr id="251"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Pregunta: ¿todos los integrantes de un proyecto deberían tener el mismo nivel de acceso? Caso: documento institucional con permisos de lectura, edición y administración.</a:t>
            </a:r>
            <a:endParaRPr lang="es-NI" sz="2000" b="0" u="none" strike="noStrike">
              <a:solidFill>
                <a:srgbClr val="000000"/>
              </a:solidFill>
              <a:effectLst/>
              <a:uFillTx/>
              <a:latin typeface="Arial"/>
            </a:endParaRPr>
          </a:p>
        </p:txBody>
      </p:sp>
      <p:sp>
        <p:nvSpPr>
          <p:cNvPr id="252" name="PlaceHolder 3"/>
          <p:cNvSpPr>
            <a:spLocks noGrp="1"/>
          </p:cNvSpPr>
          <p:nvPr>
            <p:ph type="sldNum" idx="21"/>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1C96AAD-FD2E-427A-8EE2-98B02D0F6908}"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sldImg"/>
          </p:nvPr>
        </p:nvSpPr>
        <p:spPr>
          <a:xfrm>
            <a:off x="1295280" y="754200"/>
            <a:ext cx="5181120" cy="3771360"/>
          </a:xfrm>
          <a:prstGeom prst="rect">
            <a:avLst/>
          </a:prstGeom>
          <a:ln w="0">
            <a:noFill/>
          </a:ln>
        </p:spPr>
      </p:sp>
      <p:sp>
        <p:nvSpPr>
          <p:cNvPr id="254"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Explicar gobernanza como conjunto de decisiones y reglas. Pregunta: ¿quién debería decidir cuánto tiempo se conserva la información de un proyecto?</a:t>
            </a:r>
            <a:endParaRPr lang="es-NI" sz="2000" b="0" u="none" strike="noStrike">
              <a:solidFill>
                <a:srgbClr val="000000"/>
              </a:solidFill>
              <a:effectLst/>
              <a:uFillTx/>
              <a:latin typeface="Arial"/>
            </a:endParaRPr>
          </a:p>
        </p:txBody>
      </p:sp>
      <p:sp>
        <p:nvSpPr>
          <p:cNvPr id="255" name="PlaceHolder 3"/>
          <p:cNvSpPr>
            <a:spLocks noGrp="1"/>
          </p:cNvSpPr>
          <p:nvPr>
            <p:ph type="sldNum" idx="22"/>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9552162-B2A0-4019-9918-B5E0CC0EF2F0}"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sldImg"/>
          </p:nvPr>
        </p:nvSpPr>
        <p:spPr>
          <a:xfrm>
            <a:off x="1295280" y="754200"/>
            <a:ext cx="5181120" cy="3771360"/>
          </a:xfrm>
          <a:prstGeom prst="rect">
            <a:avLst/>
          </a:prstGeom>
          <a:ln w="0">
            <a:noFill/>
          </a:ln>
        </p:spPr>
      </p:sp>
      <p:sp>
        <p:nvSpPr>
          <p:cNvPr id="257"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Caso: empleados reciben una nueva herramienta pero siguen usando correo, chats personales y archivos locales. Pregunta: ¿por qué puede fracasar la adopción aunque la tecnología sea buena?</a:t>
            </a:r>
            <a:endParaRPr lang="es-NI" sz="2000" b="0" u="none" strike="noStrike">
              <a:solidFill>
                <a:srgbClr val="000000"/>
              </a:solidFill>
              <a:effectLst/>
              <a:uFillTx/>
              <a:latin typeface="Arial"/>
            </a:endParaRPr>
          </a:p>
        </p:txBody>
      </p:sp>
      <p:sp>
        <p:nvSpPr>
          <p:cNvPr id="258" name="PlaceHolder 3"/>
          <p:cNvSpPr>
            <a:spLocks noGrp="1"/>
          </p:cNvSpPr>
          <p:nvPr>
            <p:ph type="sldNum" idx="23"/>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0316422-7973-415B-8105-30343EAF708E}"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sldImg"/>
          </p:nvPr>
        </p:nvSpPr>
        <p:spPr>
          <a:xfrm>
            <a:off x="1295280" y="754200"/>
            <a:ext cx="5181120" cy="3771360"/>
          </a:xfrm>
          <a:prstGeom prst="rect">
            <a:avLst/>
          </a:prstGeom>
          <a:ln w="0">
            <a:noFill/>
          </a:ln>
        </p:spPr>
      </p:sp>
      <p:sp>
        <p:nvSpPr>
          <p:cNvPr id="260"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Pedir al grupo anticipar cuál consideran el principal beneficio y justificarlo.</a:t>
            </a:r>
            <a:endParaRPr lang="es-NI" sz="2000" b="0" u="none" strike="noStrike">
              <a:solidFill>
                <a:srgbClr val="000000"/>
              </a:solidFill>
              <a:effectLst/>
              <a:uFillTx/>
              <a:latin typeface="Arial"/>
            </a:endParaRPr>
          </a:p>
        </p:txBody>
      </p:sp>
      <p:sp>
        <p:nvSpPr>
          <p:cNvPr id="261" name="PlaceHolder 3"/>
          <p:cNvSpPr>
            <a:spLocks noGrp="1"/>
          </p:cNvSpPr>
          <p:nvPr>
            <p:ph type="sldNum" idx="24"/>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736C070-5A90-4A87-BDF9-D12B8B301073}"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sldImg"/>
          </p:nvPr>
        </p:nvSpPr>
        <p:spPr>
          <a:xfrm>
            <a:off x="1295280" y="754200"/>
            <a:ext cx="5181120" cy="3771360"/>
          </a:xfrm>
          <a:prstGeom prst="rect">
            <a:avLst/>
          </a:prstGeom>
          <a:ln w="0">
            <a:noFill/>
          </a:ln>
        </p:spPr>
      </p:sp>
      <p:sp>
        <p:nvSpPr>
          <p:cNvPr id="263"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Aclarar que productividad no significa solo hacer más rápido. Pregunta: ¿una plataforma puede aumentar la actividad pero no el resultado? Caso: seguimiento visible de tareas en un proyecto.</a:t>
            </a:r>
            <a:endParaRPr lang="es-NI" sz="2000" b="0" u="none" strike="noStrike">
              <a:solidFill>
                <a:srgbClr val="000000"/>
              </a:solidFill>
              <a:effectLst/>
              <a:uFillTx/>
              <a:latin typeface="Arial"/>
            </a:endParaRPr>
          </a:p>
        </p:txBody>
      </p:sp>
      <p:sp>
        <p:nvSpPr>
          <p:cNvPr id="264" name="PlaceHolder 3"/>
          <p:cNvSpPr>
            <a:spLocks noGrp="1"/>
          </p:cNvSpPr>
          <p:nvPr>
            <p:ph type="sldNum" idx="25"/>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07FDD3C-2436-41FC-B4FD-C67DAA8479B0}"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sldImg"/>
          </p:nvPr>
        </p:nvSpPr>
        <p:spPr>
          <a:xfrm>
            <a:off x="1295280" y="754200"/>
            <a:ext cx="5181120" cy="3771360"/>
          </a:xfrm>
          <a:prstGeom prst="rect">
            <a:avLst/>
          </a:prstGeom>
          <a:ln w="0">
            <a:noFill/>
          </a:ln>
        </p:spPr>
      </p:sp>
      <p:sp>
        <p:nvSpPr>
          <p:cNvPr id="266"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Caso: integrantes de un proyecto trabajan en horarios distintos. Pregunta: ¿qué funciones hacen posible colaborar sin coincidir al mismo tiempo?</a:t>
            </a:r>
            <a:endParaRPr lang="es-NI" sz="2000" b="0" u="none" strike="noStrike">
              <a:solidFill>
                <a:srgbClr val="000000"/>
              </a:solidFill>
              <a:effectLst/>
              <a:uFillTx/>
              <a:latin typeface="Arial"/>
            </a:endParaRPr>
          </a:p>
        </p:txBody>
      </p:sp>
      <p:sp>
        <p:nvSpPr>
          <p:cNvPr id="267" name="PlaceHolder 3"/>
          <p:cNvSpPr>
            <a:spLocks noGrp="1"/>
          </p:cNvSpPr>
          <p:nvPr>
            <p:ph type="sldNum" idx="26"/>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180ADB5-1918-4ADF-822B-6BC713465873}"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sldImg"/>
          </p:nvPr>
        </p:nvSpPr>
        <p:spPr>
          <a:xfrm>
            <a:off x="1295280" y="754200"/>
            <a:ext cx="5181120" cy="3771360"/>
          </a:xfrm>
          <a:prstGeom prst="rect">
            <a:avLst/>
          </a:prstGeom>
          <a:ln w="0">
            <a:noFill/>
          </a:ln>
        </p:spPr>
      </p:sp>
      <p:sp>
        <p:nvSpPr>
          <p:cNvPr id="269"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Reflexionar: más comunicación no siempre es mejor. Pregunta: ¿cuándo la multiplicidad de canales se convierte en ruido?</a:t>
            </a:r>
            <a:endParaRPr lang="es-NI" sz="2000" b="0" u="none" strike="noStrike">
              <a:solidFill>
                <a:srgbClr val="000000"/>
              </a:solidFill>
              <a:effectLst/>
              <a:uFillTx/>
              <a:latin typeface="Arial"/>
            </a:endParaRPr>
          </a:p>
        </p:txBody>
      </p:sp>
      <p:sp>
        <p:nvSpPr>
          <p:cNvPr id="270" name="PlaceHolder 3"/>
          <p:cNvSpPr>
            <a:spLocks noGrp="1"/>
          </p:cNvSpPr>
          <p:nvPr>
            <p:ph type="sldNum" idx="27"/>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9ED5AEC-39D2-42D1-BBA5-3A1A3704AC3E}"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sldImg"/>
          </p:nvPr>
        </p:nvSpPr>
        <p:spPr>
          <a:xfrm>
            <a:off x="1295280" y="754200"/>
            <a:ext cx="5181120" cy="3771360"/>
          </a:xfrm>
          <a:prstGeom prst="rect">
            <a:avLst/>
          </a:prstGeom>
          <a:ln w="0">
            <a:noFill/>
          </a:ln>
        </p:spPr>
      </p:sp>
      <p:sp>
        <p:nvSpPr>
          <p:cNvPr id="272"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Caso aplicado: Microsoft Teams como ejemplo de integración de mensajería, archivos y coordinación. Pregunta: identifiquen una función y clasifíquenla en Comunicación, Coordinación o Cooperación.</a:t>
            </a:r>
            <a:endParaRPr lang="es-NI" sz="2000" b="0" u="none" strike="noStrike">
              <a:solidFill>
                <a:srgbClr val="000000"/>
              </a:solidFill>
              <a:effectLst/>
              <a:uFillTx/>
              <a:latin typeface="Arial"/>
            </a:endParaRPr>
          </a:p>
        </p:txBody>
      </p:sp>
      <p:sp>
        <p:nvSpPr>
          <p:cNvPr id="273" name="PlaceHolder 3"/>
          <p:cNvSpPr>
            <a:spLocks noGrp="1"/>
          </p:cNvSpPr>
          <p:nvPr>
            <p:ph type="sldNum" idx="28"/>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1680513-3EF5-4EF0-8D77-A3781EA7706F}"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sldImg"/>
          </p:nvPr>
        </p:nvSpPr>
        <p:spPr>
          <a:xfrm>
            <a:off x="1295280" y="754200"/>
            <a:ext cx="5181120" cy="3771360"/>
          </a:xfrm>
          <a:prstGeom prst="rect">
            <a:avLst/>
          </a:prstGeom>
          <a:ln w="0">
            <a:noFill/>
          </a:ln>
        </p:spPr>
      </p:sp>
      <p:sp>
        <p:nvSpPr>
          <p:cNvPr id="275"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Construir con los estudiantes el mapa 3C del proyecto. Pregunta: ¿qué evidencia demuestra que realmente hubo cooperación y no solo división individual del trabajo?</a:t>
            </a:r>
            <a:endParaRPr lang="es-NI" sz="2000" b="0" u="none" strike="noStrike">
              <a:solidFill>
                <a:srgbClr val="000000"/>
              </a:solidFill>
              <a:effectLst/>
              <a:uFillTx/>
              <a:latin typeface="Arial"/>
            </a:endParaRPr>
          </a:p>
        </p:txBody>
      </p:sp>
      <p:sp>
        <p:nvSpPr>
          <p:cNvPr id="276" name="PlaceHolder 3"/>
          <p:cNvSpPr>
            <a:spLocks noGrp="1"/>
          </p:cNvSpPr>
          <p:nvPr>
            <p:ph type="sldNum" idx="29"/>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BB9DE99-FE8F-4D23-B2AF-EE2465D651E3}"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sldImg"/>
          </p:nvPr>
        </p:nvSpPr>
        <p:spPr>
          <a:xfrm>
            <a:off x="1295280" y="754200"/>
            <a:ext cx="5181120" cy="3771360"/>
          </a:xfrm>
          <a:prstGeom prst="rect">
            <a:avLst/>
          </a:prstGeom>
          <a:ln w="0">
            <a:noFill/>
          </a:ln>
        </p:spPr>
      </p:sp>
      <p:sp>
        <p:nvSpPr>
          <p:cNvPr id="278"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Caso: plataformas colaborativas en ecosistemas industriales o iniciativas sociales. Pregunta: ¿qué desafíos aparecen cuando participan organizaciones con intereses y reglas diferentes?</a:t>
            </a:r>
            <a:endParaRPr lang="es-NI" sz="2000" b="0" u="none" strike="noStrike">
              <a:solidFill>
                <a:srgbClr val="000000"/>
              </a:solidFill>
              <a:effectLst/>
              <a:uFillTx/>
              <a:latin typeface="Arial"/>
            </a:endParaRPr>
          </a:p>
        </p:txBody>
      </p:sp>
      <p:sp>
        <p:nvSpPr>
          <p:cNvPr id="279" name="PlaceHolder 3"/>
          <p:cNvSpPr>
            <a:spLocks noGrp="1"/>
          </p:cNvSpPr>
          <p:nvPr>
            <p:ph type="sldNum" idx="30"/>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9F92C3D-1FF3-4B2B-A43B-9248CD398A85}"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sldImg"/>
          </p:nvPr>
        </p:nvSpPr>
        <p:spPr>
          <a:xfrm>
            <a:off x="1295280" y="754200"/>
            <a:ext cx="5181120" cy="3771360"/>
          </a:xfrm>
          <a:prstGeom prst="rect">
            <a:avLst/>
          </a:prstGeom>
          <a:ln w="0">
            <a:noFill/>
          </a:ln>
        </p:spPr>
      </p:sp>
      <p:sp>
        <p:nvSpPr>
          <p:cNvPr id="281"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Esta diapositiva funciona como herramienta transferible. Aplicar a una plataforma conocida por los estudiantes en 2 minutos.</a:t>
            </a:r>
            <a:endParaRPr lang="es-NI" sz="2000" b="0" u="none" strike="noStrike">
              <a:solidFill>
                <a:srgbClr val="000000"/>
              </a:solidFill>
              <a:effectLst/>
              <a:uFillTx/>
              <a:latin typeface="Arial"/>
            </a:endParaRPr>
          </a:p>
        </p:txBody>
      </p:sp>
      <p:sp>
        <p:nvSpPr>
          <p:cNvPr id="282" name="PlaceHolder 3"/>
          <p:cNvSpPr>
            <a:spLocks noGrp="1"/>
          </p:cNvSpPr>
          <p:nvPr>
            <p:ph type="sldNum" idx="31"/>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4A59F06-E991-4B7D-A3BD-6AE7ACEAF9CF}"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sldImg"/>
          </p:nvPr>
        </p:nvSpPr>
        <p:spPr>
          <a:xfrm>
            <a:off x="1295280" y="754200"/>
            <a:ext cx="5181120" cy="3771360"/>
          </a:xfrm>
          <a:prstGeom prst="rect">
            <a:avLst/>
          </a:prstGeom>
          <a:ln w="0">
            <a:noFill/>
          </a:ln>
        </p:spPr>
      </p:sp>
      <p:sp>
        <p:nvSpPr>
          <p:cNvPr id="284"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Preparar la actividad final: no se trata de decir qué herramienta es mejor, sino de descubrir cómo colaboramos mediante ellas.</a:t>
            </a:r>
            <a:endParaRPr lang="es-NI" sz="2000" b="0" u="none" strike="noStrike">
              <a:solidFill>
                <a:srgbClr val="000000"/>
              </a:solidFill>
              <a:effectLst/>
              <a:uFillTx/>
              <a:latin typeface="Arial"/>
            </a:endParaRPr>
          </a:p>
        </p:txBody>
      </p:sp>
      <p:sp>
        <p:nvSpPr>
          <p:cNvPr id="285" name="PlaceHolder 3"/>
          <p:cNvSpPr>
            <a:spLocks noGrp="1"/>
          </p:cNvSpPr>
          <p:nvPr>
            <p:ph type="sldNum" idx="32"/>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B5DCA45-E895-4602-B0B6-A7F23307ACE2}"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sldImg"/>
          </p:nvPr>
        </p:nvSpPr>
        <p:spPr>
          <a:xfrm>
            <a:off x="1295280" y="754200"/>
            <a:ext cx="5181120" cy="3771360"/>
          </a:xfrm>
          <a:prstGeom prst="rect">
            <a:avLst/>
          </a:prstGeom>
          <a:ln w="0">
            <a:noFill/>
          </a:ln>
        </p:spPr>
      </p:sp>
      <p:sp>
        <p:nvSpPr>
          <p:cNvPr id="287"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Trabajo individual breve y luego intercambio en parejas. Preguntas de andamiaje: ¿qué hacías?, ¿con quién?, ¿para qué?, ¿qué problema resolvía la herramienta?, ¿qué parte corresponde a Comunicación, Coordinación o Cooperación? Caso: cada estudiante reconstruye una experiencia académica o profesional.</a:t>
            </a:r>
            <a:endParaRPr lang="es-NI" sz="2000" b="0" u="none" strike="noStrike">
              <a:solidFill>
                <a:srgbClr val="000000"/>
              </a:solidFill>
              <a:effectLst/>
              <a:uFillTx/>
              <a:latin typeface="Arial"/>
            </a:endParaRPr>
          </a:p>
        </p:txBody>
      </p:sp>
      <p:sp>
        <p:nvSpPr>
          <p:cNvPr id="288" name="PlaceHolder 3"/>
          <p:cNvSpPr>
            <a:spLocks noGrp="1"/>
          </p:cNvSpPr>
          <p:nvPr>
            <p:ph type="sldNum" idx="33"/>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BC4FBFC-2329-4350-9E21-F258C384F27A}"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sldImg"/>
          </p:nvPr>
        </p:nvSpPr>
        <p:spPr>
          <a:xfrm>
            <a:off x="1295280" y="754200"/>
            <a:ext cx="5181120" cy="3771360"/>
          </a:xfrm>
          <a:prstGeom prst="rect">
            <a:avLst/>
          </a:prstGeom>
          <a:ln w="0">
            <a:noFill/>
          </a:ln>
        </p:spPr>
      </p:sp>
      <p:sp>
        <p:nvSpPr>
          <p:cNvPr id="290"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Puesta en común. Pauta de reflexión: «Antes de elegir una plataforma, identifica qué necesita el grupo comunicar, coordinar y construir». Preguntas finales: ¿qué herramienta usabas sin reconocer sus funciones 3C?, ¿qué beneficio real te aportó?, ¿qué cambiarías en un futuro proyecto? Cerrar conectando explícitamente con IL2.1.</a:t>
            </a:r>
            <a:endParaRPr lang="es-NI" sz="2000" b="0" u="none" strike="noStrike">
              <a:solidFill>
                <a:srgbClr val="000000"/>
              </a:solidFill>
              <a:effectLst/>
              <a:uFillTx/>
              <a:latin typeface="Arial"/>
            </a:endParaRPr>
          </a:p>
        </p:txBody>
      </p:sp>
      <p:sp>
        <p:nvSpPr>
          <p:cNvPr id="291" name="PlaceHolder 3"/>
          <p:cNvSpPr>
            <a:spLocks noGrp="1"/>
          </p:cNvSpPr>
          <p:nvPr>
            <p:ph type="sldNum" idx="34"/>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47A7777-B889-4252-A0E1-DA96035F84CA}"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sldImg"/>
          </p:nvPr>
        </p:nvSpPr>
        <p:spPr>
          <a:xfrm>
            <a:off x="1295280" y="754200"/>
            <a:ext cx="5181120" cy="3771360"/>
          </a:xfrm>
          <a:prstGeom prst="rect">
            <a:avLst/>
          </a:prstGeom>
          <a:ln w="0">
            <a:noFill/>
          </a:ln>
        </p:spPr>
      </p:sp>
      <p:sp>
        <p:nvSpPr>
          <p:cNvPr id="293" name="PlaceHolder 2"/>
          <p:cNvSpPr>
            <a:spLocks noGrp="1"/>
          </p:cNvSpPr>
          <p:nvPr>
            <p:ph type="body"/>
          </p:nvPr>
        </p:nvSpPr>
        <p:spPr>
          <a:xfrm>
            <a:off x="777240" y="4777560"/>
            <a:ext cx="6217560" cy="4525920"/>
          </a:xfrm>
          <a:prstGeom prst="rect">
            <a:avLst/>
          </a:prstGeom>
          <a:noFill/>
          <a:ln w="0">
            <a:noFill/>
          </a:ln>
        </p:spPr>
        <p:txBody>
          <a:bodyPr lIns="91440" tIns="45720" rIns="91440" bIns="45720" anchor="t">
            <a:noAutofit/>
          </a:bodyPr>
          <a:p>
            <a:pPr indent="0" algn="l">
              <a:lnSpc>
                <a:spcPct val="100000"/>
              </a:lnSpc>
              <a:buNone/>
            </a:pPr>
            <a:r>
              <a:rPr lang="es-NI" sz="2000" b="0" u="none" strike="noStrike">
                <a:solidFill>
                  <a:srgbClr val="000000"/>
                </a:solidFill>
                <a:effectLst/>
                <a:uFillTx/>
                <a:latin typeface="Arial"/>
              </a:rPr>
              <a:t>Aclarar que las diapositivas sintetizan las fuentes recopiladas en el documento proporcionado por el docente.</a:t>
            </a:r>
            <a:endParaRPr lang="es-NI" sz="2000" b="0" u="none" strike="noStrike">
              <a:solidFill>
                <a:srgbClr val="000000"/>
              </a:solidFill>
              <a:effectLst/>
              <a:uFillTx/>
              <a:latin typeface="Arial"/>
            </a:endParaRPr>
          </a:p>
        </p:txBody>
      </p:sp>
      <p:sp>
        <p:nvSpPr>
          <p:cNvPr id="294" name="PlaceHolder 3"/>
          <p:cNvSpPr>
            <a:spLocks noGrp="1"/>
          </p:cNvSpPr>
          <p:nvPr>
            <p:ph type="sldNum" idx="35"/>
          </p:nvPr>
        </p:nvSpPr>
        <p:spPr>
          <a:xfrm>
            <a:off x="4402440" y="9553680"/>
            <a:ext cx="3367800" cy="50256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B10B843-DA71-45E3-AE3A-25BDCB09419C}" type="slidenum">
              <a:rPr lang="en-US" sz="1200" b="0" u="none" strike="noStrike">
                <a:solidFill>
                  <a:srgbClr val="000000"/>
                </a:solidFill>
                <a:effectLst/>
                <a:uFillTx/>
                <a:latin typeface="Times New Roman"/>
              </a:rPr>
              <a:t>&lt;número&gt;</a:t>
            </a:fld>
            <a:endParaRPr lang="es-NI"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cabezado de sección">
    <p:bg>
      <p:bgPr>
        <a:solidFill>
          <a:srgbClr val="FFFFFF"/>
        </a:solidFill>
      </p:bgPr>
    </p:bg>
    <p:spTree>
      <p:nvGrpSpPr>
        <p:cNvPr id="1" name=""/>
        <p:cNvGrpSpPr/>
        <p:nvPr/>
      </p:nvGrpSpPr>
      <p:grpSpPr>
        <a:xfrm>
          <a:off x="0" y="0"/>
          <a:ext cx="0" cy="0"/>
          <a:chOff x="0" y="0"/>
          <a:chExt cx="0" cy="0"/>
        </a:xfrm>
      </p:grpSpPr>
      <p:sp>
        <p:nvSpPr>
          <p:cNvPr id="2" name="Rectángulo 6"/>
          <p:cNvSpPr/>
          <p:nvPr/>
        </p:nvSpPr>
        <p:spPr>
          <a:xfrm>
            <a:off x="0" y="1709640"/>
            <a:ext cx="12191760" cy="5148000"/>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NI" sz="1800" b="0" u="none" strike="noStrike">
              <a:solidFill>
                <a:schemeClr val="lt1"/>
              </a:solidFill>
              <a:effectLst/>
              <a:uFillTx/>
              <a:latin typeface="Franklin Gothic Book"/>
            </a:endParaRPr>
          </a:p>
        </p:txBody>
      </p:sp>
      <p:sp>
        <p:nvSpPr>
          <p:cNvPr id="3"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s-ES" sz="6000" b="0" u="none" strike="noStrike">
                <a:solidFill>
                  <a:schemeClr val="lt1"/>
                </a:solidFill>
                <a:effectLst/>
                <a:uFillTx/>
                <a:latin typeface="Franklin Gothic Medium"/>
              </a:defRPr>
            </a:lvl1pPr>
          </a:lstStyle>
          <a:p>
            <a:pPr indent="0" algn="l" defTabSz="914400">
              <a:lnSpc>
                <a:spcPct val="90000"/>
              </a:lnSpc>
              <a:buNone/>
            </a:pPr>
            <a:r>
              <a:rPr lang="es-ES" sz="6000" b="0" u="none" strike="noStrike">
                <a:solidFill>
                  <a:schemeClr val="lt1"/>
                </a:solidFill>
                <a:effectLst/>
                <a:uFillTx/>
                <a:latin typeface="Franklin Gothic Medium"/>
              </a:rPr>
              <a:t>Haga clic para modificar el estilo de título del patrón</a:t>
            </a:r>
            <a:endParaRPr lang="es-NI" sz="6000" b="0" u="none" strike="noStrike">
              <a:solidFill>
                <a:schemeClr val="lt1"/>
              </a:solidFill>
              <a:effectLst/>
              <a:uFillTx/>
              <a:latin typeface="Franklin Gothic Medium"/>
            </a:endParaRPr>
          </a:p>
        </p:txBody>
      </p:sp>
      <p:sp>
        <p:nvSpPr>
          <p:cNvPr id="4"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s-ES" sz="2400" b="0" u="none" strike="noStrike">
                <a:solidFill>
                  <a:schemeClr val="lt1"/>
                </a:solidFill>
                <a:effectLst/>
                <a:uFillTx/>
                <a:latin typeface="Franklin Gothic Book"/>
              </a:defRPr>
            </a:lvl1pPr>
          </a:lstStyle>
          <a:p>
            <a:pPr indent="0" algn="l" defTabSz="914400">
              <a:lnSpc>
                <a:spcPct val="90000"/>
              </a:lnSpc>
              <a:spcBef>
                <a:spcPts val="1001"/>
              </a:spcBef>
              <a:buNone/>
              <a:tabLst>
                <a:tab pos="0" algn="l"/>
              </a:tabLst>
            </a:pPr>
            <a:r>
              <a:rPr lang="es-ES" sz="2400" b="0" u="none" strike="noStrike">
                <a:solidFill>
                  <a:schemeClr val="lt1"/>
                </a:solidFill>
                <a:effectLst/>
                <a:uFillTx/>
                <a:latin typeface="Franklin Gothic Book"/>
              </a:rPr>
              <a:t>Editar el estilo de texto del patrón</a:t>
            </a:r>
            <a:endParaRPr lang="es-NI" sz="2400" b="0" u="none" strike="noStrike">
              <a:solidFill>
                <a:schemeClr val="lt1"/>
              </a:solidFill>
              <a:effectLst/>
              <a:uFillTx/>
              <a:latin typeface="Franklin Gothic Book"/>
            </a:endParaRPr>
          </a:p>
        </p:txBody>
      </p:sp>
      <p:pic>
        <p:nvPicPr>
          <p:cNvPr id="5" name="Imagen 3"/>
          <p:cNvPicPr/>
          <p:nvPr/>
        </p:nvPicPr>
        <p:blipFill>
          <a:blip r:embed="rId2"/>
          <a:stretch/>
        </p:blipFill>
        <p:spPr>
          <a:xfrm>
            <a:off x="0" y="115920"/>
            <a:ext cx="5305680" cy="1416240"/>
          </a:xfrm>
          <a:prstGeom prst="rect">
            <a:avLst/>
          </a:prstGeom>
          <a:noFill/>
          <a:ln w="0">
            <a:noFill/>
          </a:ln>
        </p:spPr>
      </p:pic>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iapositiva de título">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s-ES" sz="6000" b="0" u="none" strike="noStrike">
                <a:solidFill>
                  <a:schemeClr val="dk1">
                    <a:lumMod val="75000"/>
                    <a:lumOff val="25000"/>
                  </a:schemeClr>
                </a:solidFill>
                <a:effectLst/>
                <a:uFillTx/>
                <a:latin typeface="Franklin Gothic Medium"/>
              </a:defRPr>
            </a:lvl1pPr>
          </a:lstStyle>
          <a:p>
            <a:pPr indent="0" algn="ctr" defTabSz="914400">
              <a:lnSpc>
                <a:spcPct val="90000"/>
              </a:lnSpc>
              <a:buNone/>
            </a:pPr>
            <a:r>
              <a:rPr lang="es-ES" sz="6000" b="0" u="none" strike="noStrike">
                <a:solidFill>
                  <a:schemeClr val="dk1">
                    <a:lumMod val="75000"/>
                    <a:lumOff val="25000"/>
                  </a:schemeClr>
                </a:solidFill>
                <a:effectLst/>
                <a:uFillTx/>
                <a:latin typeface="Franklin Gothic Medium"/>
              </a:rPr>
              <a:t>Haga clic para modificar el estilo de título del patrón</a:t>
            </a:r>
            <a:endParaRPr lang="es-NI" sz="6000" b="0" u="none" strike="noStrike">
              <a:solidFill>
                <a:schemeClr val="dk1">
                  <a:lumMod val="75000"/>
                  <a:lumOff val="25000"/>
                </a:schemeClr>
              </a:solidFill>
              <a:effectLst/>
              <a:uFillTx/>
              <a:latin typeface="Franklin Gothic Medium"/>
            </a:endParaRPr>
          </a:p>
        </p:txBody>
      </p:sp>
      <p:sp>
        <p:nvSpPr>
          <p:cNvPr id="7" name="Rectángulo 7"/>
          <p:cNvSpPr/>
          <p:nvPr/>
        </p:nvSpPr>
        <p:spPr>
          <a:xfrm>
            <a:off x="0" y="0"/>
            <a:ext cx="12191760" cy="1122120"/>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NI" sz="1800" b="0" u="none" strike="noStrike">
              <a:solidFill>
                <a:schemeClr val="lt1"/>
              </a:solidFill>
              <a:effectLst/>
              <a:uFillTx/>
              <a:latin typeface="Franklin Gothic Book"/>
            </a:endParaRPr>
          </a:p>
        </p:txBody>
      </p:sp>
      <p:pic>
        <p:nvPicPr>
          <p:cNvPr id="11" name="Imagen 8"/>
          <p:cNvPicPr/>
          <p:nvPr/>
        </p:nvPicPr>
        <p:blipFill>
          <a:blip r:embed="rId2"/>
          <a:stretch/>
        </p:blipFill>
        <p:spPr>
          <a:xfrm>
            <a:off x="10052640" y="-36360"/>
            <a:ext cx="2139120" cy="1194840"/>
          </a:xfrm>
          <a:prstGeom prst="rect">
            <a:avLst/>
          </a:prstGeom>
          <a:noFill/>
          <a:ln w="0">
            <a:noFill/>
          </a:ln>
        </p:spPr>
      </p:pic>
      <p:sp>
        <p:nvSpPr>
          <p:cNvPr id="12"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s-NI" sz="2800" b="0" u="none" strike="noStrike">
                <a:solidFill>
                  <a:schemeClr val="dk1"/>
                </a:solidFill>
                <a:effectLst/>
                <a:uFillTx/>
                <a:latin typeface="Franklin Gothic Book"/>
              </a:defRPr>
            </a:lvl1pPr>
            <a:lvl2pPr lvl="1" algn="l" defTabSz="914400">
              <a:lnSpc>
                <a:spcPct val="90000"/>
              </a:lnSpc>
              <a:spcBef>
                <a:spcPts val="499"/>
              </a:spcBef>
              <a:buClr>
                <a:srgbClr val="000000"/>
              </a:buClr>
              <a:buSzPct val="75000"/>
              <a:buFont typeface="Symbol" charset="2"/>
              <a:buChar char=""/>
              <a:defRPr lang="es-NI" sz="2400" b="0" u="none" strike="noStrike">
                <a:solidFill>
                  <a:schemeClr val="dk1"/>
                </a:solidFill>
                <a:effectLst/>
                <a:uFillTx/>
                <a:latin typeface="Franklin Gothic Book"/>
              </a:defRPr>
            </a:lvl2pPr>
            <a:lvl3pPr lvl="2" algn="l" defTabSz="914400">
              <a:lnSpc>
                <a:spcPct val="90000"/>
              </a:lnSpc>
              <a:spcBef>
                <a:spcPts val="499"/>
              </a:spcBef>
              <a:buClr>
                <a:srgbClr val="000000"/>
              </a:buClr>
              <a:buSzPct val="45000"/>
              <a:buFont typeface="Wingdings" charset="2"/>
              <a:buChar char=""/>
              <a:defRPr lang="es-NI" sz="2000" b="0" u="none" strike="noStrike">
                <a:solidFill>
                  <a:schemeClr val="dk1"/>
                </a:solidFill>
                <a:effectLst/>
                <a:uFillTx/>
                <a:latin typeface="Franklin Gothic Book"/>
              </a:defRPr>
            </a:lvl3pPr>
            <a:lvl4pPr lvl="3" algn="l" defTabSz="914400">
              <a:lnSpc>
                <a:spcPct val="90000"/>
              </a:lnSpc>
              <a:spcBef>
                <a:spcPts val="499"/>
              </a:spcBef>
              <a:buClr>
                <a:srgbClr val="000000"/>
              </a:buClr>
              <a:buSzPct val="75000"/>
              <a:buFont typeface="Symbol" charset="2"/>
              <a:buChar char=""/>
              <a:defRPr lang="es-NI" sz="1800" b="0" u="none" strike="noStrike">
                <a:solidFill>
                  <a:schemeClr val="dk1"/>
                </a:solidFill>
                <a:effectLst/>
                <a:uFillTx/>
                <a:latin typeface="Franklin Gothic Book"/>
              </a:defRPr>
            </a:lvl4pPr>
            <a:lvl5pPr lvl="4" algn="l" defTabSz="914400">
              <a:lnSpc>
                <a:spcPct val="90000"/>
              </a:lnSpc>
              <a:spcBef>
                <a:spcPts val="499"/>
              </a:spcBef>
              <a:buClr>
                <a:srgbClr val="000000"/>
              </a:buClr>
              <a:buSzPct val="45000"/>
              <a:buFont typeface="Wingdings" charset="2"/>
              <a:buChar char=""/>
              <a:defRPr lang="es-NI" sz="1800" b="0" u="none" strike="noStrike">
                <a:solidFill>
                  <a:schemeClr val="dk1"/>
                </a:solidFill>
                <a:effectLst/>
                <a:uFillTx/>
                <a:latin typeface="Franklin Gothic Book"/>
              </a:defRPr>
            </a:lvl5pPr>
            <a:lvl6pPr lvl="5" algn="l" defTabSz="914400">
              <a:lnSpc>
                <a:spcPct val="90000"/>
              </a:lnSpc>
              <a:spcBef>
                <a:spcPts val="283"/>
              </a:spcBef>
              <a:buClr>
                <a:srgbClr val="000000"/>
              </a:buClr>
              <a:buSzPct val="45000"/>
              <a:buFont typeface="Wingdings" charset="2"/>
              <a:buChar char=""/>
              <a:defRPr lang="es-NI" sz="2000" b="0" u="none" strike="noStrike">
                <a:solidFill>
                  <a:schemeClr val="dk1"/>
                </a:solidFill>
                <a:effectLst/>
                <a:uFillTx/>
                <a:latin typeface="Franklin Gothic Book"/>
              </a:defRPr>
            </a:lvl6pPr>
            <a:lvl7pPr lvl="6" algn="l" defTabSz="914400">
              <a:lnSpc>
                <a:spcPct val="90000"/>
              </a:lnSpc>
              <a:spcBef>
                <a:spcPts val="283"/>
              </a:spcBef>
              <a:buClr>
                <a:srgbClr val="000000"/>
              </a:buClr>
              <a:buSzPct val="45000"/>
              <a:buFont typeface="Wingdings" charset="2"/>
              <a:buChar char=""/>
              <a:defRPr lang="es-NI" sz="2000" b="0" u="none" strike="noStrike">
                <a:solidFill>
                  <a:schemeClr val="dk1"/>
                </a:solidFill>
                <a:effectLst/>
                <a:uFillTx/>
                <a:latin typeface="Franklin Gothic Book"/>
              </a:defRPr>
            </a:lvl7pPr>
          </a:lstStyle>
          <a:p>
            <a:pPr marL="228600" indent="-228600" algn="l" defTabSz="914400">
              <a:lnSpc>
                <a:spcPct val="90000"/>
              </a:lnSpc>
              <a:spcBef>
                <a:spcPts val="1001"/>
              </a:spcBef>
              <a:buClr>
                <a:srgbClr val="000000"/>
              </a:buClr>
              <a:buFont typeface="Arial"/>
              <a:buChar char="•"/>
            </a:pPr>
            <a:r>
              <a:rPr lang="es-NI" sz="2800" b="0" u="none" strike="noStrike">
                <a:solidFill>
                  <a:schemeClr val="dk1"/>
                </a:solidFill>
                <a:effectLst/>
                <a:uFillTx/>
                <a:latin typeface="Franklin Gothic Book"/>
              </a:rPr>
              <a:t>Pulse para editar el formato de texto del esquema</a:t>
            </a:r>
            <a:endParaRPr lang="es-NI" sz="2800" b="0" u="none" strike="noStrike">
              <a:solidFill>
                <a:schemeClr val="dk1"/>
              </a:solidFill>
              <a:effectLst/>
              <a:uFillTx/>
              <a:latin typeface="Franklin Gothic Book"/>
            </a:endParaRPr>
          </a:p>
          <a:p>
            <a:pPr marL="864000" lvl="1" indent="-324000" algn="l" defTabSz="914400">
              <a:lnSpc>
                <a:spcPct val="90000"/>
              </a:lnSpc>
              <a:spcBef>
                <a:spcPts val="499"/>
              </a:spcBef>
              <a:buClr>
                <a:srgbClr val="000000"/>
              </a:buClr>
              <a:buSzPct val="75000"/>
              <a:buFont typeface="Symbol" charset="2"/>
              <a:buChar char=""/>
            </a:pPr>
            <a:r>
              <a:rPr lang="es-NI" sz="2400" b="0" u="none" strike="noStrike">
                <a:solidFill>
                  <a:schemeClr val="dk1"/>
                </a:solidFill>
                <a:effectLst/>
                <a:uFillTx/>
                <a:latin typeface="Franklin Gothic Book"/>
              </a:rPr>
              <a:t>Segundo nivel del esquema</a:t>
            </a:r>
            <a:endParaRPr lang="es-NI" sz="2400" b="0" u="none" strike="noStrike">
              <a:solidFill>
                <a:schemeClr val="dk1"/>
              </a:solidFill>
              <a:effectLst/>
              <a:uFillTx/>
              <a:latin typeface="Franklin Gothic Book"/>
            </a:endParaRPr>
          </a:p>
          <a:p>
            <a:pPr marL="1296000" lvl="2" indent="-288000" algn="l" defTabSz="914400">
              <a:lnSpc>
                <a:spcPct val="90000"/>
              </a:lnSpc>
              <a:spcBef>
                <a:spcPts val="499"/>
              </a:spcBef>
              <a:buClr>
                <a:srgbClr val="000000"/>
              </a:buClr>
              <a:buSzPct val="45000"/>
              <a:buFont typeface="Wingdings" charset="2"/>
              <a:buChar char=""/>
            </a:pPr>
            <a:r>
              <a:rPr lang="es-NI" sz="2000" b="0" u="none" strike="noStrike">
                <a:solidFill>
                  <a:schemeClr val="dk1"/>
                </a:solidFill>
                <a:effectLst/>
                <a:uFillTx/>
                <a:latin typeface="Franklin Gothic Book"/>
              </a:rPr>
              <a:t>Tercer nivel del esquema</a:t>
            </a:r>
            <a:endParaRPr lang="es-NI" sz="2000" b="0" u="none" strike="noStrike">
              <a:solidFill>
                <a:schemeClr val="dk1"/>
              </a:solidFill>
              <a:effectLst/>
              <a:uFillTx/>
              <a:latin typeface="Franklin Gothic Book"/>
            </a:endParaRPr>
          </a:p>
          <a:p>
            <a:pPr marL="1728000" lvl="3" indent="-216000" algn="l" defTabSz="914400">
              <a:lnSpc>
                <a:spcPct val="90000"/>
              </a:lnSpc>
              <a:spcBef>
                <a:spcPts val="499"/>
              </a:spcBef>
              <a:buClr>
                <a:srgbClr val="000000"/>
              </a:buClr>
              <a:buSzPct val="75000"/>
              <a:buFont typeface="Symbol" charset="2"/>
              <a:buChar char=""/>
            </a:pPr>
            <a:r>
              <a:rPr lang="es-NI" sz="1800" b="0" u="none" strike="noStrike">
                <a:solidFill>
                  <a:schemeClr val="dk1"/>
                </a:solidFill>
                <a:effectLst/>
                <a:uFillTx/>
                <a:latin typeface="Franklin Gothic Book"/>
              </a:rPr>
              <a:t>Cuarto nivel del esquema</a:t>
            </a:r>
            <a:endParaRPr lang="es-NI" sz="1800" b="0" u="none" strike="noStrike">
              <a:solidFill>
                <a:schemeClr val="dk1"/>
              </a:solidFill>
              <a:effectLst/>
              <a:uFillTx/>
              <a:latin typeface="Franklin Gothic Book"/>
            </a:endParaRPr>
          </a:p>
          <a:p>
            <a:pPr marL="2160000" lvl="4" indent="-216000" algn="l" defTabSz="914400">
              <a:lnSpc>
                <a:spcPct val="90000"/>
              </a:lnSpc>
              <a:spcBef>
                <a:spcPts val="499"/>
              </a:spcBef>
              <a:buClr>
                <a:srgbClr val="000000"/>
              </a:buClr>
              <a:buSzPct val="45000"/>
              <a:buFont typeface="Wingdings" charset="2"/>
              <a:buChar char=""/>
            </a:pPr>
            <a:r>
              <a:rPr lang="es-NI" sz="1800" b="0" u="none" strike="noStrike">
                <a:solidFill>
                  <a:schemeClr val="dk1"/>
                </a:solidFill>
                <a:effectLst/>
                <a:uFillTx/>
                <a:latin typeface="Franklin Gothic Book"/>
              </a:rPr>
              <a:t>Quinto nivel del esquema</a:t>
            </a:r>
            <a:endParaRPr lang="es-NI" sz="1800" b="0" u="none" strike="noStrike">
              <a:solidFill>
                <a:schemeClr val="dk1"/>
              </a:solidFill>
              <a:effectLst/>
              <a:uFillTx/>
              <a:latin typeface="Franklin Gothic Book"/>
            </a:endParaRPr>
          </a:p>
          <a:p>
            <a:pPr marL="2592000" lvl="5" indent="-216000" algn="l" defTabSz="914400">
              <a:lnSpc>
                <a:spcPct val="90000"/>
              </a:lnSpc>
              <a:spcBef>
                <a:spcPts val="283"/>
              </a:spcBef>
              <a:buClr>
                <a:srgbClr val="000000"/>
              </a:buClr>
              <a:buSzPct val="45000"/>
              <a:buFont typeface="Wingdings" charset="2"/>
              <a:buChar char=""/>
            </a:pPr>
            <a:r>
              <a:rPr lang="es-NI" sz="2000" b="0" u="none" strike="noStrike">
                <a:solidFill>
                  <a:schemeClr val="dk1"/>
                </a:solidFill>
                <a:effectLst/>
                <a:uFillTx/>
                <a:latin typeface="Franklin Gothic Book"/>
              </a:rPr>
              <a:t>Sexto nivel del esquema</a:t>
            </a:r>
            <a:endParaRPr lang="es-NI" sz="2000" b="0" u="none" strike="noStrike">
              <a:solidFill>
                <a:schemeClr val="dk1"/>
              </a:solidFill>
              <a:effectLst/>
              <a:uFillTx/>
              <a:latin typeface="Franklin Gothic Book"/>
            </a:endParaRPr>
          </a:p>
          <a:p>
            <a:pPr marL="3024000" lvl="6" indent="-216000" algn="l" defTabSz="914400">
              <a:lnSpc>
                <a:spcPct val="90000"/>
              </a:lnSpc>
              <a:spcBef>
                <a:spcPts val="283"/>
              </a:spcBef>
              <a:buClr>
                <a:srgbClr val="000000"/>
              </a:buClr>
              <a:buSzPct val="45000"/>
              <a:buFont typeface="Wingdings" charset="2"/>
              <a:buChar char=""/>
            </a:pPr>
            <a:r>
              <a:rPr lang="es-NI" sz="2000" b="0" u="none" strike="noStrike">
                <a:solidFill>
                  <a:schemeClr val="dk1"/>
                </a:solidFill>
                <a:effectLst/>
                <a:uFillTx/>
                <a:latin typeface="Franklin Gothic Book"/>
              </a:rPr>
              <a:t>Séptimo nivel del esquema</a:t>
            </a:r>
            <a:endParaRPr lang="es-NI" sz="2000" b="0" u="none" strike="noStrike">
              <a:solidFill>
                <a:schemeClr val="dk1"/>
              </a:solidFill>
              <a:effectLst/>
              <a:uFillTx/>
              <a:latin typeface="Franklin Gothic Book"/>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a de título">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s-ES" sz="6000" b="0" u="none" strike="noStrike">
                <a:solidFill>
                  <a:schemeClr val="dk1">
                    <a:lumMod val="75000"/>
                    <a:lumOff val="25000"/>
                  </a:schemeClr>
                </a:solidFill>
                <a:effectLst/>
                <a:uFillTx/>
                <a:latin typeface="Franklin Gothic Medium"/>
              </a:defRPr>
            </a:lvl1pPr>
          </a:lstStyle>
          <a:p>
            <a:pPr indent="0" algn="ctr" defTabSz="914400">
              <a:lnSpc>
                <a:spcPct val="90000"/>
              </a:lnSpc>
              <a:buNone/>
            </a:pPr>
            <a:r>
              <a:rPr lang="es-ES" sz="6000" b="0" u="none" strike="noStrike">
                <a:solidFill>
                  <a:schemeClr val="dk1">
                    <a:lumMod val="75000"/>
                    <a:lumOff val="25000"/>
                  </a:schemeClr>
                </a:solidFill>
                <a:effectLst/>
                <a:uFillTx/>
                <a:latin typeface="Franklin Gothic Medium"/>
              </a:rPr>
              <a:t>Haga clic para modificar el estilo de título del patrón</a:t>
            </a:r>
            <a:endParaRPr lang="es-NI" sz="6000" b="0" u="none" strike="noStrike">
              <a:solidFill>
                <a:schemeClr val="dk1">
                  <a:lumMod val="75000"/>
                  <a:lumOff val="25000"/>
                </a:schemeClr>
              </a:solidFill>
              <a:effectLst/>
              <a:uFillTx/>
              <a:latin typeface="Franklin Gothic Medium"/>
            </a:endParaRPr>
          </a:p>
        </p:txBody>
      </p:sp>
      <p:sp>
        <p:nvSpPr>
          <p:cNvPr id="7" name="Rectángulo 7"/>
          <p:cNvSpPr/>
          <p:nvPr/>
        </p:nvSpPr>
        <p:spPr>
          <a:xfrm>
            <a:off x="0" y="0"/>
            <a:ext cx="12191760" cy="1122120"/>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NI" sz="1800" b="0" u="none" strike="noStrike">
              <a:solidFill>
                <a:schemeClr val="lt1"/>
              </a:solidFill>
              <a:effectLst/>
              <a:uFillTx/>
              <a:latin typeface="Franklin Gothic Book"/>
            </a:endParaRPr>
          </a:p>
        </p:txBody>
      </p:sp>
      <p:pic>
        <p:nvPicPr>
          <p:cNvPr id="8" name="Imagen 8"/>
          <p:cNvPicPr/>
          <p:nvPr/>
        </p:nvPicPr>
        <p:blipFill>
          <a:blip r:embed="rId2"/>
          <a:stretch/>
        </p:blipFill>
        <p:spPr>
          <a:xfrm>
            <a:off x="10052640" y="-36360"/>
            <a:ext cx="2139120" cy="1194840"/>
          </a:xfrm>
          <a:prstGeom prst="rect">
            <a:avLst/>
          </a:prstGeom>
          <a:noFill/>
          <a:ln w="0">
            <a:noFill/>
          </a:ln>
        </p:spPr>
      </p:pic>
      <p:sp>
        <p:nvSpPr>
          <p:cNvPr id="9"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s-NI" sz="2800" b="0" u="none" strike="noStrike">
                <a:solidFill>
                  <a:schemeClr val="dk1"/>
                </a:solidFill>
                <a:effectLst/>
                <a:uFillTx/>
                <a:latin typeface="Franklin Gothic Book"/>
              </a:defRPr>
            </a:lvl1pPr>
            <a:lvl2pPr lvl="1" algn="l" defTabSz="914400">
              <a:lnSpc>
                <a:spcPct val="90000"/>
              </a:lnSpc>
              <a:spcBef>
                <a:spcPts val="499"/>
              </a:spcBef>
              <a:buClr>
                <a:srgbClr val="000000"/>
              </a:buClr>
              <a:buSzPct val="75000"/>
              <a:buFont typeface="Symbol" charset="2"/>
              <a:buChar char=""/>
              <a:defRPr lang="es-NI" sz="2400" b="0" u="none" strike="noStrike">
                <a:solidFill>
                  <a:schemeClr val="dk1"/>
                </a:solidFill>
                <a:effectLst/>
                <a:uFillTx/>
                <a:latin typeface="Franklin Gothic Book"/>
              </a:defRPr>
            </a:lvl2pPr>
            <a:lvl3pPr lvl="2" algn="l" defTabSz="914400">
              <a:lnSpc>
                <a:spcPct val="90000"/>
              </a:lnSpc>
              <a:spcBef>
                <a:spcPts val="499"/>
              </a:spcBef>
              <a:buClr>
                <a:srgbClr val="000000"/>
              </a:buClr>
              <a:buSzPct val="45000"/>
              <a:buFont typeface="Wingdings" charset="2"/>
              <a:buChar char=""/>
              <a:defRPr lang="es-NI" sz="2000" b="0" u="none" strike="noStrike">
                <a:solidFill>
                  <a:schemeClr val="dk1"/>
                </a:solidFill>
                <a:effectLst/>
                <a:uFillTx/>
                <a:latin typeface="Franklin Gothic Book"/>
              </a:defRPr>
            </a:lvl3pPr>
            <a:lvl4pPr lvl="3" algn="l" defTabSz="914400">
              <a:lnSpc>
                <a:spcPct val="90000"/>
              </a:lnSpc>
              <a:spcBef>
                <a:spcPts val="499"/>
              </a:spcBef>
              <a:buClr>
                <a:srgbClr val="000000"/>
              </a:buClr>
              <a:buSzPct val="75000"/>
              <a:buFont typeface="Symbol" charset="2"/>
              <a:buChar char=""/>
              <a:defRPr lang="es-NI" sz="1800" b="0" u="none" strike="noStrike">
                <a:solidFill>
                  <a:schemeClr val="dk1"/>
                </a:solidFill>
                <a:effectLst/>
                <a:uFillTx/>
                <a:latin typeface="Franklin Gothic Book"/>
              </a:defRPr>
            </a:lvl4pPr>
            <a:lvl5pPr lvl="4" algn="l" defTabSz="914400">
              <a:lnSpc>
                <a:spcPct val="90000"/>
              </a:lnSpc>
              <a:spcBef>
                <a:spcPts val="499"/>
              </a:spcBef>
              <a:buClr>
                <a:srgbClr val="000000"/>
              </a:buClr>
              <a:buSzPct val="45000"/>
              <a:buFont typeface="Wingdings" charset="2"/>
              <a:buChar char=""/>
              <a:defRPr lang="es-NI" sz="1800" b="0" u="none" strike="noStrike">
                <a:solidFill>
                  <a:schemeClr val="dk1"/>
                </a:solidFill>
                <a:effectLst/>
                <a:uFillTx/>
                <a:latin typeface="Franklin Gothic Book"/>
              </a:defRPr>
            </a:lvl5pPr>
            <a:lvl6pPr lvl="5" algn="l" defTabSz="914400">
              <a:lnSpc>
                <a:spcPct val="90000"/>
              </a:lnSpc>
              <a:spcBef>
                <a:spcPts val="283"/>
              </a:spcBef>
              <a:buClr>
                <a:srgbClr val="000000"/>
              </a:buClr>
              <a:buSzPct val="45000"/>
              <a:buFont typeface="Wingdings" charset="2"/>
              <a:buChar char=""/>
              <a:defRPr lang="es-NI" sz="2000" b="0" u="none" strike="noStrike">
                <a:solidFill>
                  <a:schemeClr val="dk1"/>
                </a:solidFill>
                <a:effectLst/>
                <a:uFillTx/>
                <a:latin typeface="Franklin Gothic Book"/>
              </a:defRPr>
            </a:lvl6pPr>
            <a:lvl7pPr lvl="6" algn="l" defTabSz="914400">
              <a:lnSpc>
                <a:spcPct val="90000"/>
              </a:lnSpc>
              <a:spcBef>
                <a:spcPts val="283"/>
              </a:spcBef>
              <a:buClr>
                <a:srgbClr val="000000"/>
              </a:buClr>
              <a:buSzPct val="45000"/>
              <a:buFont typeface="Wingdings" charset="2"/>
              <a:buChar char=""/>
              <a:defRPr lang="es-NI" sz="2000" b="0" u="none" strike="noStrike">
                <a:solidFill>
                  <a:schemeClr val="dk1"/>
                </a:solidFill>
                <a:effectLst/>
                <a:uFillTx/>
                <a:latin typeface="Franklin Gothic Book"/>
              </a:defRPr>
            </a:lvl7pPr>
          </a:lstStyle>
          <a:p>
            <a:pPr marL="228600" indent="-228600" algn="l" defTabSz="914400">
              <a:lnSpc>
                <a:spcPct val="90000"/>
              </a:lnSpc>
              <a:spcBef>
                <a:spcPts val="1001"/>
              </a:spcBef>
              <a:buClr>
                <a:srgbClr val="000000"/>
              </a:buClr>
              <a:buFont typeface="Arial"/>
              <a:buChar char="•"/>
            </a:pPr>
            <a:r>
              <a:rPr lang="es-NI" sz="2800" b="0" u="none" strike="noStrike">
                <a:solidFill>
                  <a:schemeClr val="dk1"/>
                </a:solidFill>
                <a:effectLst/>
                <a:uFillTx/>
                <a:latin typeface="Franklin Gothic Book"/>
              </a:rPr>
              <a:t>Pulse para editar el formato de texto del esquema</a:t>
            </a:r>
            <a:endParaRPr lang="es-NI" sz="2800" b="0" u="none" strike="noStrike">
              <a:solidFill>
                <a:schemeClr val="dk1"/>
              </a:solidFill>
              <a:effectLst/>
              <a:uFillTx/>
              <a:latin typeface="Franklin Gothic Book"/>
            </a:endParaRPr>
          </a:p>
          <a:p>
            <a:pPr marL="864000" lvl="1" indent="-324000" algn="l" defTabSz="914400">
              <a:lnSpc>
                <a:spcPct val="90000"/>
              </a:lnSpc>
              <a:spcBef>
                <a:spcPts val="499"/>
              </a:spcBef>
              <a:buClr>
                <a:srgbClr val="000000"/>
              </a:buClr>
              <a:buSzPct val="75000"/>
              <a:buFont typeface="Symbol" charset="2"/>
              <a:buChar char=""/>
            </a:pPr>
            <a:r>
              <a:rPr lang="es-NI" sz="2400" b="0" u="none" strike="noStrike">
                <a:solidFill>
                  <a:schemeClr val="dk1"/>
                </a:solidFill>
                <a:effectLst/>
                <a:uFillTx/>
                <a:latin typeface="Franklin Gothic Book"/>
              </a:rPr>
              <a:t>Segundo nivel del esquema</a:t>
            </a:r>
            <a:endParaRPr lang="es-NI" sz="2400" b="0" u="none" strike="noStrike">
              <a:solidFill>
                <a:schemeClr val="dk1"/>
              </a:solidFill>
              <a:effectLst/>
              <a:uFillTx/>
              <a:latin typeface="Franklin Gothic Book"/>
            </a:endParaRPr>
          </a:p>
          <a:p>
            <a:pPr marL="1296000" lvl="2" indent="-288000" algn="l" defTabSz="914400">
              <a:lnSpc>
                <a:spcPct val="90000"/>
              </a:lnSpc>
              <a:spcBef>
                <a:spcPts val="499"/>
              </a:spcBef>
              <a:buClr>
                <a:srgbClr val="000000"/>
              </a:buClr>
              <a:buSzPct val="45000"/>
              <a:buFont typeface="Wingdings" charset="2"/>
              <a:buChar char=""/>
            </a:pPr>
            <a:r>
              <a:rPr lang="es-NI" sz="2000" b="0" u="none" strike="noStrike">
                <a:solidFill>
                  <a:schemeClr val="dk1"/>
                </a:solidFill>
                <a:effectLst/>
                <a:uFillTx/>
                <a:latin typeface="Franklin Gothic Book"/>
              </a:rPr>
              <a:t>Tercer nivel del esquema</a:t>
            </a:r>
            <a:endParaRPr lang="es-NI" sz="2000" b="0" u="none" strike="noStrike">
              <a:solidFill>
                <a:schemeClr val="dk1"/>
              </a:solidFill>
              <a:effectLst/>
              <a:uFillTx/>
              <a:latin typeface="Franklin Gothic Book"/>
            </a:endParaRPr>
          </a:p>
          <a:p>
            <a:pPr marL="1728000" lvl="3" indent="-216000" algn="l" defTabSz="914400">
              <a:lnSpc>
                <a:spcPct val="90000"/>
              </a:lnSpc>
              <a:spcBef>
                <a:spcPts val="499"/>
              </a:spcBef>
              <a:buClr>
                <a:srgbClr val="000000"/>
              </a:buClr>
              <a:buSzPct val="75000"/>
              <a:buFont typeface="Symbol" charset="2"/>
              <a:buChar char=""/>
            </a:pPr>
            <a:r>
              <a:rPr lang="es-NI" sz="1800" b="0" u="none" strike="noStrike">
                <a:solidFill>
                  <a:schemeClr val="dk1"/>
                </a:solidFill>
                <a:effectLst/>
                <a:uFillTx/>
                <a:latin typeface="Franklin Gothic Book"/>
              </a:rPr>
              <a:t>Cuarto nivel del esquema</a:t>
            </a:r>
            <a:endParaRPr lang="es-NI" sz="1800" b="0" u="none" strike="noStrike">
              <a:solidFill>
                <a:schemeClr val="dk1"/>
              </a:solidFill>
              <a:effectLst/>
              <a:uFillTx/>
              <a:latin typeface="Franklin Gothic Book"/>
            </a:endParaRPr>
          </a:p>
          <a:p>
            <a:pPr marL="2160000" lvl="4" indent="-216000" algn="l" defTabSz="914400">
              <a:lnSpc>
                <a:spcPct val="90000"/>
              </a:lnSpc>
              <a:spcBef>
                <a:spcPts val="499"/>
              </a:spcBef>
              <a:buClr>
                <a:srgbClr val="000000"/>
              </a:buClr>
              <a:buSzPct val="45000"/>
              <a:buFont typeface="Wingdings" charset="2"/>
              <a:buChar char=""/>
            </a:pPr>
            <a:r>
              <a:rPr lang="es-NI" sz="1800" b="0" u="none" strike="noStrike">
                <a:solidFill>
                  <a:schemeClr val="dk1"/>
                </a:solidFill>
                <a:effectLst/>
                <a:uFillTx/>
                <a:latin typeface="Franklin Gothic Book"/>
              </a:rPr>
              <a:t>Quinto nivel del esquema</a:t>
            </a:r>
            <a:endParaRPr lang="es-NI" sz="1800" b="0" u="none" strike="noStrike">
              <a:solidFill>
                <a:schemeClr val="dk1"/>
              </a:solidFill>
              <a:effectLst/>
              <a:uFillTx/>
              <a:latin typeface="Franklin Gothic Book"/>
            </a:endParaRPr>
          </a:p>
          <a:p>
            <a:pPr marL="2592000" lvl="5" indent="-216000" algn="l" defTabSz="914400">
              <a:lnSpc>
                <a:spcPct val="90000"/>
              </a:lnSpc>
              <a:spcBef>
                <a:spcPts val="283"/>
              </a:spcBef>
              <a:buClr>
                <a:srgbClr val="000000"/>
              </a:buClr>
              <a:buSzPct val="45000"/>
              <a:buFont typeface="Wingdings" charset="2"/>
              <a:buChar char=""/>
            </a:pPr>
            <a:r>
              <a:rPr lang="es-NI" sz="2000" b="0" u="none" strike="noStrike">
                <a:solidFill>
                  <a:schemeClr val="dk1"/>
                </a:solidFill>
                <a:effectLst/>
                <a:uFillTx/>
                <a:latin typeface="Franklin Gothic Book"/>
              </a:rPr>
              <a:t>Sexto nivel del esquema</a:t>
            </a:r>
            <a:endParaRPr lang="es-NI" sz="2000" b="0" u="none" strike="noStrike">
              <a:solidFill>
                <a:schemeClr val="dk1"/>
              </a:solidFill>
              <a:effectLst/>
              <a:uFillTx/>
              <a:latin typeface="Franklin Gothic Book"/>
            </a:endParaRPr>
          </a:p>
          <a:p>
            <a:pPr marL="3024000" lvl="6" indent="-216000" algn="l" defTabSz="914400">
              <a:lnSpc>
                <a:spcPct val="90000"/>
              </a:lnSpc>
              <a:spcBef>
                <a:spcPts val="283"/>
              </a:spcBef>
              <a:buClr>
                <a:srgbClr val="000000"/>
              </a:buClr>
              <a:buSzPct val="45000"/>
              <a:buFont typeface="Wingdings" charset="2"/>
              <a:buChar char=""/>
            </a:pPr>
            <a:r>
              <a:rPr lang="es-NI" sz="2000" b="0" u="none" strike="noStrike">
                <a:solidFill>
                  <a:schemeClr val="dk1"/>
                </a:solidFill>
                <a:effectLst/>
                <a:uFillTx/>
                <a:latin typeface="Franklin Gothic Book"/>
              </a:rPr>
              <a:t>Séptimo nivel del esquema</a:t>
            </a:r>
            <a:endParaRPr lang="es-NI" sz="2000" b="0" u="none" strike="noStrike">
              <a:solidFill>
                <a:schemeClr val="dk1"/>
              </a:solidFill>
              <a:effectLst/>
              <a:uFillTx/>
              <a:latin typeface="Franklin Gothic Book"/>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ítulo y objetos">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s-ES" sz="4400" b="0" u="none" strike="noStrike">
                <a:solidFill>
                  <a:schemeClr val="dk1">
                    <a:lumMod val="75000"/>
                    <a:lumOff val="25000"/>
                  </a:schemeClr>
                </a:solidFill>
                <a:effectLst/>
                <a:uFillTx/>
                <a:latin typeface="Franklin Gothic Medium"/>
              </a:defRPr>
            </a:lvl1pPr>
          </a:lstStyle>
          <a:p>
            <a:pPr indent="0" algn="l" defTabSz="914400">
              <a:lnSpc>
                <a:spcPct val="90000"/>
              </a:lnSpc>
              <a:buNone/>
            </a:pPr>
            <a:r>
              <a:rPr lang="es-ES" sz="4400" b="0" u="none" strike="noStrike">
                <a:solidFill>
                  <a:schemeClr val="dk1">
                    <a:lumMod val="75000"/>
                    <a:lumOff val="25000"/>
                  </a:schemeClr>
                </a:solidFill>
                <a:effectLst/>
                <a:uFillTx/>
                <a:latin typeface="Franklin Gothic Medium"/>
              </a:rPr>
              <a:t>Haga clic para modificar el estilo de título del patrón</a:t>
            </a:r>
            <a:endParaRPr lang="es-NI" sz="4400" b="0" u="none" strike="noStrike">
              <a:solidFill>
                <a:schemeClr val="dk1">
                  <a:lumMod val="75000"/>
                  <a:lumOff val="25000"/>
                </a:schemeClr>
              </a:solidFill>
              <a:effectLst/>
              <a:uFillTx/>
              <a:latin typeface="Franklin Gothic Medium"/>
            </a:endParaRPr>
          </a:p>
        </p:txBody>
      </p:sp>
      <p:sp>
        <p:nvSpPr>
          <p:cNvPr id="14"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404040"/>
              </a:buClr>
              <a:buFont typeface="Arial"/>
              <a:buChar char="•"/>
              <a:defRPr lang="es-ES" sz="2800" b="0" u="none" strike="noStrike">
                <a:solidFill>
                  <a:schemeClr val="dk1">
                    <a:lumMod val="75000"/>
                    <a:lumOff val="25000"/>
                  </a:schemeClr>
                </a:solidFill>
                <a:effectLst/>
                <a:uFillTx/>
                <a:latin typeface="Franklin Gothic Book"/>
              </a:defRPr>
            </a:lvl1pPr>
            <a:lvl2pPr lvl="1" algn="l" defTabSz="914400">
              <a:lnSpc>
                <a:spcPct val="90000"/>
              </a:lnSpc>
              <a:spcBef>
                <a:spcPts val="499"/>
              </a:spcBef>
              <a:buClr>
                <a:srgbClr val="404040"/>
              </a:buClr>
              <a:buFont typeface="Arial"/>
              <a:buChar char="•"/>
              <a:defRPr lang="es-ES" sz="2400" b="0" u="none" strike="noStrike">
                <a:solidFill>
                  <a:schemeClr val="dk1">
                    <a:lumMod val="75000"/>
                    <a:lumOff val="25000"/>
                  </a:schemeClr>
                </a:solidFill>
                <a:effectLst/>
                <a:uFillTx/>
                <a:latin typeface="Franklin Gothic Book"/>
              </a:defRPr>
            </a:lvl2pPr>
            <a:lvl3pPr lvl="2" algn="l" defTabSz="914400">
              <a:lnSpc>
                <a:spcPct val="90000"/>
              </a:lnSpc>
              <a:spcBef>
                <a:spcPts val="499"/>
              </a:spcBef>
              <a:buClr>
                <a:srgbClr val="404040"/>
              </a:buClr>
              <a:buFont typeface="Arial"/>
              <a:buChar char="•"/>
              <a:defRPr lang="es-ES" sz="2000" b="0" u="none" strike="noStrike">
                <a:solidFill>
                  <a:schemeClr val="dk1">
                    <a:lumMod val="75000"/>
                    <a:lumOff val="25000"/>
                  </a:schemeClr>
                </a:solidFill>
                <a:effectLst/>
                <a:uFillTx/>
                <a:latin typeface="Franklin Gothic Book"/>
              </a:defRPr>
            </a:lvl3pPr>
            <a:lvl4pPr lvl="3" algn="l" defTabSz="914400">
              <a:lnSpc>
                <a:spcPct val="90000"/>
              </a:lnSpc>
              <a:spcBef>
                <a:spcPts val="499"/>
              </a:spcBef>
              <a:buClr>
                <a:srgbClr val="404040"/>
              </a:buClr>
              <a:buFont typeface="Arial"/>
              <a:buChar char="•"/>
              <a:defRPr lang="es-ES" sz="1800" b="0" u="none" strike="noStrike">
                <a:solidFill>
                  <a:schemeClr val="dk1">
                    <a:lumMod val="75000"/>
                    <a:lumOff val="25000"/>
                  </a:schemeClr>
                </a:solidFill>
                <a:effectLst/>
                <a:uFillTx/>
                <a:latin typeface="Franklin Gothic Book"/>
              </a:defRPr>
            </a:lvl4pPr>
            <a:lvl5pPr lvl="4" algn="l" defTabSz="914400">
              <a:lnSpc>
                <a:spcPct val="90000"/>
              </a:lnSpc>
              <a:spcBef>
                <a:spcPts val="499"/>
              </a:spcBef>
              <a:buClr>
                <a:srgbClr val="404040"/>
              </a:buClr>
              <a:buFont typeface="Arial"/>
              <a:buChar char="•"/>
              <a:defRPr lang="es-ES" sz="1800" b="0" u="none" strike="noStrike">
                <a:solidFill>
                  <a:schemeClr val="dk1">
                    <a:lumMod val="75000"/>
                    <a:lumOff val="25000"/>
                  </a:schemeClr>
                </a:solidFill>
                <a:effectLst/>
                <a:uFillTx/>
                <a:latin typeface="Franklin Gothic Book"/>
              </a:defRPr>
            </a:lvl5pPr>
          </a:lstStyle>
          <a:p>
            <a:pPr marL="228600" indent="-228600" algn="l" defTabSz="914400">
              <a:lnSpc>
                <a:spcPct val="90000"/>
              </a:lnSpc>
              <a:spcBef>
                <a:spcPts val="1001"/>
              </a:spcBef>
              <a:buClr>
                <a:srgbClr val="404040"/>
              </a:buClr>
              <a:buFont typeface="Arial"/>
              <a:buChar char="•"/>
            </a:pPr>
            <a:r>
              <a:rPr lang="es-ES" sz="2800" b="0" u="none" strike="noStrike">
                <a:solidFill>
                  <a:schemeClr val="dk1">
                    <a:lumMod val="75000"/>
                    <a:lumOff val="25000"/>
                  </a:schemeClr>
                </a:solidFill>
                <a:effectLst/>
                <a:uFillTx/>
                <a:latin typeface="Franklin Gothic Book"/>
              </a:rPr>
              <a:t>Editar el estilo de texto del patrón</a:t>
            </a:r>
            <a:endParaRPr lang="es-NI" sz="2800" b="0" u="none" strike="noStrike">
              <a:solidFill>
                <a:schemeClr val="dk1">
                  <a:lumMod val="75000"/>
                  <a:lumOff val="25000"/>
                </a:schemeClr>
              </a:solidFill>
              <a:effectLst/>
              <a:uFillTx/>
              <a:latin typeface="Franklin Gothic Book"/>
            </a:endParaRPr>
          </a:p>
          <a:p>
            <a:pPr marL="685800" lvl="1" indent="-228600" algn="l" defTabSz="914400">
              <a:lnSpc>
                <a:spcPct val="90000"/>
              </a:lnSpc>
              <a:spcBef>
                <a:spcPts val="499"/>
              </a:spcBef>
              <a:buClr>
                <a:srgbClr val="404040"/>
              </a:buClr>
              <a:buFont typeface="Arial"/>
              <a:buChar char="•"/>
            </a:pPr>
            <a:r>
              <a:rPr lang="es-ES" sz="2400" b="0" u="none" strike="noStrike">
                <a:solidFill>
                  <a:schemeClr val="dk1">
                    <a:lumMod val="75000"/>
                    <a:lumOff val="25000"/>
                  </a:schemeClr>
                </a:solidFill>
                <a:effectLst/>
                <a:uFillTx/>
                <a:latin typeface="Franklin Gothic Book"/>
              </a:rPr>
              <a:t>Segundo nivel</a:t>
            </a:r>
            <a:endParaRPr lang="es-NI" sz="2400" b="0" u="none" strike="noStrike">
              <a:solidFill>
                <a:schemeClr val="dk1">
                  <a:lumMod val="75000"/>
                  <a:lumOff val="25000"/>
                </a:schemeClr>
              </a:solidFill>
              <a:effectLst/>
              <a:uFillTx/>
              <a:latin typeface="Franklin Gothic Book"/>
            </a:endParaRPr>
          </a:p>
          <a:p>
            <a:pPr marL="1143000" lvl="2" indent="-228600" algn="l" defTabSz="914400">
              <a:lnSpc>
                <a:spcPct val="90000"/>
              </a:lnSpc>
              <a:spcBef>
                <a:spcPts val="499"/>
              </a:spcBef>
              <a:buClr>
                <a:srgbClr val="404040"/>
              </a:buClr>
              <a:buFont typeface="Arial"/>
              <a:buChar char="•"/>
            </a:pPr>
            <a:r>
              <a:rPr lang="es-ES" sz="2000" b="0" u="none" strike="noStrike">
                <a:solidFill>
                  <a:schemeClr val="dk1">
                    <a:lumMod val="75000"/>
                    <a:lumOff val="25000"/>
                  </a:schemeClr>
                </a:solidFill>
                <a:effectLst/>
                <a:uFillTx/>
                <a:latin typeface="Franklin Gothic Book"/>
              </a:rPr>
              <a:t>Tercer nivel</a:t>
            </a:r>
            <a:endParaRPr lang="es-NI" sz="2000" b="0" u="none" strike="noStrike">
              <a:solidFill>
                <a:schemeClr val="dk1">
                  <a:lumMod val="75000"/>
                  <a:lumOff val="25000"/>
                </a:schemeClr>
              </a:solidFill>
              <a:effectLst/>
              <a:uFillTx/>
              <a:latin typeface="Franklin Gothic Book"/>
            </a:endParaRPr>
          </a:p>
          <a:p>
            <a:pPr marL="1600200" lvl="3" indent="-228600" algn="l" defTabSz="914400">
              <a:lnSpc>
                <a:spcPct val="90000"/>
              </a:lnSpc>
              <a:spcBef>
                <a:spcPts val="499"/>
              </a:spcBef>
              <a:buClr>
                <a:srgbClr val="404040"/>
              </a:buClr>
              <a:buFont typeface="Arial"/>
              <a:buChar char="•"/>
            </a:pPr>
            <a:r>
              <a:rPr lang="es-ES" sz="1800" b="0" u="none" strike="noStrike">
                <a:solidFill>
                  <a:schemeClr val="dk1">
                    <a:lumMod val="75000"/>
                    <a:lumOff val="25000"/>
                  </a:schemeClr>
                </a:solidFill>
                <a:effectLst/>
                <a:uFillTx/>
                <a:latin typeface="Franklin Gothic Book"/>
              </a:rPr>
              <a:t>Cuarto nivel</a:t>
            </a:r>
            <a:endParaRPr lang="es-NI" sz="1800" b="0" u="none" strike="noStrike">
              <a:solidFill>
                <a:schemeClr val="dk1">
                  <a:lumMod val="75000"/>
                  <a:lumOff val="25000"/>
                </a:schemeClr>
              </a:solidFill>
              <a:effectLst/>
              <a:uFillTx/>
              <a:latin typeface="Franklin Gothic Book"/>
            </a:endParaRPr>
          </a:p>
          <a:p>
            <a:pPr marL="2057400" lvl="4" indent="-228600" algn="l" defTabSz="914400">
              <a:lnSpc>
                <a:spcPct val="90000"/>
              </a:lnSpc>
              <a:spcBef>
                <a:spcPts val="499"/>
              </a:spcBef>
              <a:buClr>
                <a:srgbClr val="404040"/>
              </a:buClr>
              <a:buFont typeface="Arial"/>
              <a:buChar char="•"/>
            </a:pPr>
            <a:r>
              <a:rPr lang="es-ES" sz="1800" b="0" u="none" strike="noStrike">
                <a:solidFill>
                  <a:schemeClr val="dk1">
                    <a:lumMod val="75000"/>
                    <a:lumOff val="25000"/>
                  </a:schemeClr>
                </a:solidFill>
                <a:effectLst/>
                <a:uFillTx/>
                <a:latin typeface="Franklin Gothic Book"/>
              </a:rPr>
              <a:t>Quinto nivel</a:t>
            </a:r>
            <a:endParaRPr lang="es-NI" sz="1800" b="0" u="none" strike="noStrike">
              <a:solidFill>
                <a:schemeClr val="dk1">
                  <a:lumMod val="75000"/>
                  <a:lumOff val="25000"/>
                </a:schemeClr>
              </a:solidFill>
              <a:effectLst/>
              <a:uFillTx/>
              <a:latin typeface="Franklin Gothic Book"/>
            </a:endParaRPr>
          </a:p>
        </p:txBody>
      </p:sp>
      <p:pic>
        <p:nvPicPr>
          <p:cNvPr id="15" name="Imagen 6"/>
          <p:cNvPicPr/>
          <p:nvPr/>
        </p:nvPicPr>
        <p:blipFill>
          <a:blip r:embed="rId2"/>
          <a:stretch/>
        </p:blipFill>
        <p:spPr>
          <a:xfrm>
            <a:off x="11151000" y="6840"/>
            <a:ext cx="1040760" cy="581040"/>
          </a:xfrm>
          <a:prstGeom prst="rect">
            <a:avLst/>
          </a:prstGeom>
          <a:noFill/>
          <a:ln w="0">
            <a:noFill/>
          </a:ln>
        </p:spPr>
      </p:pic>
      <p:sp>
        <p:nvSpPr>
          <p:cNvPr id="16" name="Rectángulo 7"/>
          <p:cNvSpPr/>
          <p:nvPr/>
        </p:nvSpPr>
        <p:spPr>
          <a:xfrm>
            <a:off x="0" y="6542640"/>
            <a:ext cx="12191760" cy="315000"/>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NI" sz="1800" b="0" u="none" strike="noStrike">
              <a:solidFill>
                <a:schemeClr val="lt1"/>
              </a:solidFill>
              <a:effectLst/>
              <a:uFillTx/>
              <a:latin typeface="Franklin Gothic Book"/>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ítulo y objetos">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s-ES" sz="4400" b="0" u="none" strike="noStrike">
                <a:solidFill>
                  <a:schemeClr val="dk1">
                    <a:lumMod val="75000"/>
                    <a:lumOff val="25000"/>
                  </a:schemeClr>
                </a:solidFill>
                <a:effectLst/>
                <a:uFillTx/>
                <a:latin typeface="Franklin Gothic Medium"/>
              </a:defRPr>
            </a:lvl1pPr>
          </a:lstStyle>
          <a:p>
            <a:pPr indent="0" algn="l" defTabSz="914400">
              <a:lnSpc>
                <a:spcPct val="90000"/>
              </a:lnSpc>
              <a:buNone/>
            </a:pPr>
            <a:r>
              <a:rPr lang="es-ES" sz="4400" b="0" u="none" strike="noStrike">
                <a:solidFill>
                  <a:schemeClr val="dk1">
                    <a:lumMod val="75000"/>
                    <a:lumOff val="25000"/>
                  </a:schemeClr>
                </a:solidFill>
                <a:effectLst/>
                <a:uFillTx/>
                <a:latin typeface="Franklin Gothic Medium"/>
              </a:rPr>
              <a:t>Haga clic para modificar el estilo de título del patrón</a:t>
            </a:r>
            <a:endParaRPr lang="es-NI" sz="4400" b="0" u="none" strike="noStrike">
              <a:solidFill>
                <a:schemeClr val="dk1">
                  <a:lumMod val="75000"/>
                  <a:lumOff val="25000"/>
                </a:schemeClr>
              </a:solidFill>
              <a:effectLst/>
              <a:uFillTx/>
              <a:latin typeface="Franklin Gothic Medium"/>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404040"/>
              </a:buClr>
              <a:buFont typeface="Arial"/>
              <a:buChar char="•"/>
              <a:defRPr lang="es-ES" sz="2800" b="0" u="none" strike="noStrike">
                <a:solidFill>
                  <a:schemeClr val="dk1">
                    <a:lumMod val="75000"/>
                    <a:lumOff val="25000"/>
                  </a:schemeClr>
                </a:solidFill>
                <a:effectLst/>
                <a:uFillTx/>
                <a:latin typeface="Franklin Gothic Book"/>
              </a:defRPr>
            </a:lvl1pPr>
            <a:lvl2pPr lvl="1" algn="l" defTabSz="914400">
              <a:lnSpc>
                <a:spcPct val="90000"/>
              </a:lnSpc>
              <a:spcBef>
                <a:spcPts val="499"/>
              </a:spcBef>
              <a:buClr>
                <a:srgbClr val="404040"/>
              </a:buClr>
              <a:buFont typeface="Arial"/>
              <a:buChar char="•"/>
              <a:defRPr lang="es-ES" sz="2400" b="0" u="none" strike="noStrike">
                <a:solidFill>
                  <a:schemeClr val="dk1">
                    <a:lumMod val="75000"/>
                    <a:lumOff val="25000"/>
                  </a:schemeClr>
                </a:solidFill>
                <a:effectLst/>
                <a:uFillTx/>
                <a:latin typeface="Franklin Gothic Book"/>
              </a:defRPr>
            </a:lvl2pPr>
            <a:lvl3pPr lvl="2" algn="l" defTabSz="914400">
              <a:lnSpc>
                <a:spcPct val="90000"/>
              </a:lnSpc>
              <a:spcBef>
                <a:spcPts val="499"/>
              </a:spcBef>
              <a:buClr>
                <a:srgbClr val="404040"/>
              </a:buClr>
              <a:buFont typeface="Arial"/>
              <a:buChar char="•"/>
              <a:defRPr lang="es-ES" sz="2000" b="0" u="none" strike="noStrike">
                <a:solidFill>
                  <a:schemeClr val="dk1">
                    <a:lumMod val="75000"/>
                    <a:lumOff val="25000"/>
                  </a:schemeClr>
                </a:solidFill>
                <a:effectLst/>
                <a:uFillTx/>
                <a:latin typeface="Franklin Gothic Book"/>
              </a:defRPr>
            </a:lvl3pPr>
            <a:lvl4pPr lvl="3" algn="l" defTabSz="914400">
              <a:lnSpc>
                <a:spcPct val="90000"/>
              </a:lnSpc>
              <a:spcBef>
                <a:spcPts val="499"/>
              </a:spcBef>
              <a:buClr>
                <a:srgbClr val="404040"/>
              </a:buClr>
              <a:buFont typeface="Arial"/>
              <a:buChar char="•"/>
              <a:defRPr lang="es-ES" sz="1800" b="0" u="none" strike="noStrike">
                <a:solidFill>
                  <a:schemeClr val="dk1">
                    <a:lumMod val="75000"/>
                    <a:lumOff val="25000"/>
                  </a:schemeClr>
                </a:solidFill>
                <a:effectLst/>
                <a:uFillTx/>
                <a:latin typeface="Franklin Gothic Book"/>
              </a:defRPr>
            </a:lvl4pPr>
            <a:lvl5pPr lvl="4" algn="l" defTabSz="914400">
              <a:lnSpc>
                <a:spcPct val="90000"/>
              </a:lnSpc>
              <a:spcBef>
                <a:spcPts val="499"/>
              </a:spcBef>
              <a:buClr>
                <a:srgbClr val="404040"/>
              </a:buClr>
              <a:buFont typeface="Arial"/>
              <a:buChar char="•"/>
              <a:defRPr lang="es-ES" sz="1800" b="0" u="none" strike="noStrike">
                <a:solidFill>
                  <a:schemeClr val="dk1">
                    <a:lumMod val="75000"/>
                    <a:lumOff val="25000"/>
                  </a:schemeClr>
                </a:solidFill>
                <a:effectLst/>
                <a:uFillTx/>
                <a:latin typeface="Franklin Gothic Book"/>
              </a:defRPr>
            </a:lvl5pPr>
          </a:lstStyle>
          <a:p>
            <a:pPr marL="228600" indent="-228600" algn="l" defTabSz="914400">
              <a:lnSpc>
                <a:spcPct val="90000"/>
              </a:lnSpc>
              <a:spcBef>
                <a:spcPts val="1001"/>
              </a:spcBef>
              <a:buClr>
                <a:srgbClr val="404040"/>
              </a:buClr>
              <a:buFont typeface="Arial"/>
              <a:buChar char="•"/>
            </a:pPr>
            <a:r>
              <a:rPr lang="es-ES" sz="2800" b="0" u="none" strike="noStrike">
                <a:solidFill>
                  <a:schemeClr val="dk1">
                    <a:lumMod val="75000"/>
                    <a:lumOff val="25000"/>
                  </a:schemeClr>
                </a:solidFill>
                <a:effectLst/>
                <a:uFillTx/>
                <a:latin typeface="Franklin Gothic Book"/>
              </a:rPr>
              <a:t>Editar el estilo de texto del patrón</a:t>
            </a:r>
            <a:endParaRPr lang="es-NI" sz="2800" b="0" u="none" strike="noStrike">
              <a:solidFill>
                <a:schemeClr val="dk1">
                  <a:lumMod val="75000"/>
                  <a:lumOff val="25000"/>
                </a:schemeClr>
              </a:solidFill>
              <a:effectLst/>
              <a:uFillTx/>
              <a:latin typeface="Franklin Gothic Book"/>
            </a:endParaRPr>
          </a:p>
          <a:p>
            <a:pPr marL="685800" lvl="1" indent="-228600" algn="l" defTabSz="914400">
              <a:lnSpc>
                <a:spcPct val="90000"/>
              </a:lnSpc>
              <a:spcBef>
                <a:spcPts val="499"/>
              </a:spcBef>
              <a:buClr>
                <a:srgbClr val="404040"/>
              </a:buClr>
              <a:buFont typeface="Arial"/>
              <a:buChar char="•"/>
            </a:pPr>
            <a:r>
              <a:rPr lang="es-ES" sz="2400" b="0" u="none" strike="noStrike">
                <a:solidFill>
                  <a:schemeClr val="dk1">
                    <a:lumMod val="75000"/>
                    <a:lumOff val="25000"/>
                  </a:schemeClr>
                </a:solidFill>
                <a:effectLst/>
                <a:uFillTx/>
                <a:latin typeface="Franklin Gothic Book"/>
              </a:rPr>
              <a:t>Segundo nivel</a:t>
            </a:r>
            <a:endParaRPr lang="es-NI" sz="2400" b="0" u="none" strike="noStrike">
              <a:solidFill>
                <a:schemeClr val="dk1">
                  <a:lumMod val="75000"/>
                  <a:lumOff val="25000"/>
                </a:schemeClr>
              </a:solidFill>
              <a:effectLst/>
              <a:uFillTx/>
              <a:latin typeface="Franklin Gothic Book"/>
            </a:endParaRPr>
          </a:p>
          <a:p>
            <a:pPr marL="1143000" lvl="2" indent="-228600" algn="l" defTabSz="914400">
              <a:lnSpc>
                <a:spcPct val="90000"/>
              </a:lnSpc>
              <a:spcBef>
                <a:spcPts val="499"/>
              </a:spcBef>
              <a:buClr>
                <a:srgbClr val="404040"/>
              </a:buClr>
              <a:buFont typeface="Arial"/>
              <a:buChar char="•"/>
            </a:pPr>
            <a:r>
              <a:rPr lang="es-ES" sz="2000" b="0" u="none" strike="noStrike">
                <a:solidFill>
                  <a:schemeClr val="dk1">
                    <a:lumMod val="75000"/>
                    <a:lumOff val="25000"/>
                  </a:schemeClr>
                </a:solidFill>
                <a:effectLst/>
                <a:uFillTx/>
                <a:latin typeface="Franklin Gothic Book"/>
              </a:rPr>
              <a:t>Tercer nivel</a:t>
            </a:r>
            <a:endParaRPr lang="es-NI" sz="2000" b="0" u="none" strike="noStrike">
              <a:solidFill>
                <a:schemeClr val="dk1">
                  <a:lumMod val="75000"/>
                  <a:lumOff val="25000"/>
                </a:schemeClr>
              </a:solidFill>
              <a:effectLst/>
              <a:uFillTx/>
              <a:latin typeface="Franklin Gothic Book"/>
            </a:endParaRPr>
          </a:p>
          <a:p>
            <a:pPr marL="1600200" lvl="3" indent="-228600" algn="l" defTabSz="914400">
              <a:lnSpc>
                <a:spcPct val="90000"/>
              </a:lnSpc>
              <a:spcBef>
                <a:spcPts val="499"/>
              </a:spcBef>
              <a:buClr>
                <a:srgbClr val="404040"/>
              </a:buClr>
              <a:buFont typeface="Arial"/>
              <a:buChar char="•"/>
            </a:pPr>
            <a:r>
              <a:rPr lang="es-ES" sz="1800" b="0" u="none" strike="noStrike">
                <a:solidFill>
                  <a:schemeClr val="dk1">
                    <a:lumMod val="75000"/>
                    <a:lumOff val="25000"/>
                  </a:schemeClr>
                </a:solidFill>
                <a:effectLst/>
                <a:uFillTx/>
                <a:latin typeface="Franklin Gothic Book"/>
              </a:rPr>
              <a:t>Cuarto nivel</a:t>
            </a:r>
            <a:endParaRPr lang="es-NI" sz="1800" b="0" u="none" strike="noStrike">
              <a:solidFill>
                <a:schemeClr val="dk1">
                  <a:lumMod val="75000"/>
                  <a:lumOff val="25000"/>
                </a:schemeClr>
              </a:solidFill>
              <a:effectLst/>
              <a:uFillTx/>
              <a:latin typeface="Franklin Gothic Book"/>
            </a:endParaRPr>
          </a:p>
          <a:p>
            <a:pPr marL="2057400" lvl="4" indent="-228600" algn="l" defTabSz="914400">
              <a:lnSpc>
                <a:spcPct val="90000"/>
              </a:lnSpc>
              <a:spcBef>
                <a:spcPts val="499"/>
              </a:spcBef>
              <a:buClr>
                <a:srgbClr val="404040"/>
              </a:buClr>
              <a:buFont typeface="Arial"/>
              <a:buChar char="•"/>
            </a:pPr>
            <a:r>
              <a:rPr lang="es-ES" sz="1800" b="0" u="none" strike="noStrike">
                <a:solidFill>
                  <a:schemeClr val="dk1">
                    <a:lumMod val="75000"/>
                    <a:lumOff val="25000"/>
                  </a:schemeClr>
                </a:solidFill>
                <a:effectLst/>
                <a:uFillTx/>
                <a:latin typeface="Franklin Gothic Book"/>
              </a:rPr>
              <a:t>Quinto nivel</a:t>
            </a:r>
            <a:endParaRPr lang="es-NI" sz="1800" b="0" u="none" strike="noStrike">
              <a:solidFill>
                <a:schemeClr val="dk1">
                  <a:lumMod val="75000"/>
                  <a:lumOff val="25000"/>
                </a:schemeClr>
              </a:solidFill>
              <a:effectLst/>
              <a:uFillTx/>
              <a:latin typeface="Franklin Gothic Book"/>
            </a:endParaRPr>
          </a:p>
        </p:txBody>
      </p:sp>
      <p:pic>
        <p:nvPicPr>
          <p:cNvPr id="19" name="Imagen 6"/>
          <p:cNvPicPr/>
          <p:nvPr/>
        </p:nvPicPr>
        <p:blipFill>
          <a:blip r:embed="rId2"/>
          <a:stretch/>
        </p:blipFill>
        <p:spPr>
          <a:xfrm>
            <a:off x="11151000" y="6840"/>
            <a:ext cx="1040760" cy="581040"/>
          </a:xfrm>
          <a:prstGeom prst="rect">
            <a:avLst/>
          </a:prstGeom>
          <a:noFill/>
          <a:ln w="0">
            <a:noFill/>
          </a:ln>
        </p:spPr>
      </p:pic>
      <p:sp>
        <p:nvSpPr>
          <p:cNvPr id="16" name="Rectángulo 7"/>
          <p:cNvSpPr/>
          <p:nvPr/>
        </p:nvSpPr>
        <p:spPr>
          <a:xfrm>
            <a:off x="0" y="6542640"/>
            <a:ext cx="12191760" cy="315000"/>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NI" sz="1800" b="0" u="none" strike="noStrike">
              <a:solidFill>
                <a:schemeClr val="lt1"/>
              </a:solidFill>
              <a:effectLst/>
              <a:uFillTx/>
              <a:latin typeface="Franklin Gothic Book"/>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os objetos">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s-ES" sz="4400" b="0" u="none" strike="noStrike">
                <a:solidFill>
                  <a:schemeClr val="dk1">
                    <a:lumMod val="75000"/>
                    <a:lumOff val="25000"/>
                  </a:schemeClr>
                </a:solidFill>
                <a:effectLst/>
                <a:uFillTx/>
                <a:latin typeface="Franklin Gothic Medium"/>
              </a:defRPr>
            </a:lvl1pPr>
          </a:lstStyle>
          <a:p>
            <a:pPr indent="0" algn="l" defTabSz="914400">
              <a:lnSpc>
                <a:spcPct val="90000"/>
              </a:lnSpc>
              <a:buNone/>
            </a:pPr>
            <a:r>
              <a:rPr lang="es-ES" sz="4400" b="0" u="none" strike="noStrike">
                <a:solidFill>
                  <a:schemeClr val="dk1">
                    <a:lumMod val="75000"/>
                    <a:lumOff val="25000"/>
                  </a:schemeClr>
                </a:solidFill>
                <a:effectLst/>
                <a:uFillTx/>
                <a:latin typeface="Franklin Gothic Medium"/>
              </a:rPr>
              <a:t>Haga clic para modificar el estilo de título del patrón</a:t>
            </a:r>
            <a:endParaRPr lang="es-NI" sz="4400" b="0" u="none" strike="noStrike">
              <a:solidFill>
                <a:schemeClr val="dk1">
                  <a:lumMod val="75000"/>
                  <a:lumOff val="25000"/>
                </a:schemeClr>
              </a:solidFill>
              <a:effectLst/>
              <a:uFillTx/>
              <a:latin typeface="Franklin Gothic Medium"/>
            </a:endParaRPr>
          </a:p>
        </p:txBody>
      </p:sp>
      <p:sp>
        <p:nvSpPr>
          <p:cNvPr id="21"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404040"/>
              </a:buClr>
              <a:buFont typeface="Arial"/>
              <a:buChar char="•"/>
              <a:defRPr lang="es-ES" sz="2800" b="0" u="none" strike="noStrike">
                <a:solidFill>
                  <a:schemeClr val="dk1">
                    <a:lumMod val="75000"/>
                    <a:lumOff val="25000"/>
                  </a:schemeClr>
                </a:solidFill>
                <a:effectLst/>
                <a:uFillTx/>
                <a:latin typeface="Franklin Gothic Book"/>
              </a:defRPr>
            </a:lvl1pPr>
            <a:lvl2pPr lvl="1" algn="l" defTabSz="914400">
              <a:lnSpc>
                <a:spcPct val="90000"/>
              </a:lnSpc>
              <a:spcBef>
                <a:spcPts val="499"/>
              </a:spcBef>
              <a:buClr>
                <a:srgbClr val="404040"/>
              </a:buClr>
              <a:buFont typeface="Arial"/>
              <a:buChar char="•"/>
              <a:defRPr lang="es-ES" sz="2400" b="0" u="none" strike="noStrike">
                <a:solidFill>
                  <a:schemeClr val="dk1">
                    <a:lumMod val="75000"/>
                    <a:lumOff val="25000"/>
                  </a:schemeClr>
                </a:solidFill>
                <a:effectLst/>
                <a:uFillTx/>
                <a:latin typeface="Franklin Gothic Book"/>
              </a:defRPr>
            </a:lvl2pPr>
            <a:lvl3pPr lvl="2" algn="l" defTabSz="914400">
              <a:lnSpc>
                <a:spcPct val="90000"/>
              </a:lnSpc>
              <a:spcBef>
                <a:spcPts val="499"/>
              </a:spcBef>
              <a:buClr>
                <a:srgbClr val="404040"/>
              </a:buClr>
              <a:buFont typeface="Arial"/>
              <a:buChar char="•"/>
              <a:defRPr lang="es-ES" sz="2000" b="0" u="none" strike="noStrike">
                <a:solidFill>
                  <a:schemeClr val="dk1">
                    <a:lumMod val="75000"/>
                    <a:lumOff val="25000"/>
                  </a:schemeClr>
                </a:solidFill>
                <a:effectLst/>
                <a:uFillTx/>
                <a:latin typeface="Franklin Gothic Book"/>
              </a:defRPr>
            </a:lvl3pPr>
            <a:lvl4pPr lvl="3" algn="l" defTabSz="914400">
              <a:lnSpc>
                <a:spcPct val="90000"/>
              </a:lnSpc>
              <a:spcBef>
                <a:spcPts val="499"/>
              </a:spcBef>
              <a:buClr>
                <a:srgbClr val="404040"/>
              </a:buClr>
              <a:buFont typeface="Arial"/>
              <a:buChar char="•"/>
              <a:defRPr lang="es-ES" sz="1800" b="0" u="none" strike="noStrike">
                <a:solidFill>
                  <a:schemeClr val="dk1">
                    <a:lumMod val="75000"/>
                    <a:lumOff val="25000"/>
                  </a:schemeClr>
                </a:solidFill>
                <a:effectLst/>
                <a:uFillTx/>
                <a:latin typeface="Franklin Gothic Book"/>
              </a:defRPr>
            </a:lvl4pPr>
            <a:lvl5pPr lvl="4" algn="l" defTabSz="914400">
              <a:lnSpc>
                <a:spcPct val="90000"/>
              </a:lnSpc>
              <a:spcBef>
                <a:spcPts val="499"/>
              </a:spcBef>
              <a:buClr>
                <a:srgbClr val="404040"/>
              </a:buClr>
              <a:buFont typeface="Arial"/>
              <a:buChar char="•"/>
              <a:defRPr lang="es-ES" sz="1800" b="0" u="none" strike="noStrike">
                <a:solidFill>
                  <a:schemeClr val="dk1">
                    <a:lumMod val="75000"/>
                    <a:lumOff val="25000"/>
                  </a:schemeClr>
                </a:solidFill>
                <a:effectLst/>
                <a:uFillTx/>
                <a:latin typeface="Franklin Gothic Book"/>
              </a:defRPr>
            </a:lvl5pPr>
          </a:lstStyle>
          <a:p>
            <a:pPr marL="228600" indent="-228600" algn="l" defTabSz="914400">
              <a:lnSpc>
                <a:spcPct val="90000"/>
              </a:lnSpc>
              <a:spcBef>
                <a:spcPts val="1001"/>
              </a:spcBef>
              <a:buClr>
                <a:srgbClr val="404040"/>
              </a:buClr>
              <a:buFont typeface="Arial"/>
              <a:buChar char="•"/>
            </a:pPr>
            <a:r>
              <a:rPr lang="es-ES" sz="2800" b="0" u="none" strike="noStrike">
                <a:solidFill>
                  <a:schemeClr val="dk1">
                    <a:lumMod val="75000"/>
                    <a:lumOff val="25000"/>
                  </a:schemeClr>
                </a:solidFill>
                <a:effectLst/>
                <a:uFillTx/>
                <a:latin typeface="Franklin Gothic Book"/>
              </a:rPr>
              <a:t>Editar el estilo de texto del patrón</a:t>
            </a:r>
            <a:endParaRPr lang="es-NI" sz="2800" b="0" u="none" strike="noStrike">
              <a:solidFill>
                <a:schemeClr val="dk1"/>
              </a:solidFill>
              <a:effectLst/>
              <a:uFillTx/>
              <a:latin typeface="Franklin Gothic Book"/>
            </a:endParaRPr>
          </a:p>
          <a:p>
            <a:pPr marL="685800" lvl="1" indent="-228600" algn="l" defTabSz="914400">
              <a:lnSpc>
                <a:spcPct val="90000"/>
              </a:lnSpc>
              <a:spcBef>
                <a:spcPts val="499"/>
              </a:spcBef>
              <a:buClr>
                <a:srgbClr val="404040"/>
              </a:buClr>
              <a:buFont typeface="Arial"/>
              <a:buChar char="•"/>
            </a:pPr>
            <a:r>
              <a:rPr lang="es-ES" sz="2400" b="0" u="none" strike="noStrike">
                <a:solidFill>
                  <a:schemeClr val="dk1">
                    <a:lumMod val="75000"/>
                    <a:lumOff val="25000"/>
                  </a:schemeClr>
                </a:solidFill>
                <a:effectLst/>
                <a:uFillTx/>
                <a:latin typeface="Franklin Gothic Book"/>
              </a:rPr>
              <a:t>Segundo nivel</a:t>
            </a:r>
            <a:endParaRPr lang="es-NI" sz="2400" b="0" u="none" strike="noStrike">
              <a:solidFill>
                <a:schemeClr val="dk1"/>
              </a:solidFill>
              <a:effectLst/>
              <a:uFillTx/>
              <a:latin typeface="Franklin Gothic Book"/>
            </a:endParaRPr>
          </a:p>
          <a:p>
            <a:pPr marL="1143000" lvl="2" indent="-228600" algn="l" defTabSz="914400">
              <a:lnSpc>
                <a:spcPct val="90000"/>
              </a:lnSpc>
              <a:spcBef>
                <a:spcPts val="499"/>
              </a:spcBef>
              <a:buClr>
                <a:srgbClr val="404040"/>
              </a:buClr>
              <a:buFont typeface="Arial"/>
              <a:buChar char="•"/>
            </a:pPr>
            <a:r>
              <a:rPr lang="es-ES" sz="2000" b="0" u="none" strike="noStrike">
                <a:solidFill>
                  <a:schemeClr val="dk1">
                    <a:lumMod val="75000"/>
                    <a:lumOff val="25000"/>
                  </a:schemeClr>
                </a:solidFill>
                <a:effectLst/>
                <a:uFillTx/>
                <a:latin typeface="Franklin Gothic Book"/>
              </a:rPr>
              <a:t>Tercer nivel</a:t>
            </a:r>
            <a:endParaRPr lang="es-NI" sz="2000" b="0" u="none" strike="noStrike">
              <a:solidFill>
                <a:schemeClr val="dk1"/>
              </a:solidFill>
              <a:effectLst/>
              <a:uFillTx/>
              <a:latin typeface="Franklin Gothic Book"/>
            </a:endParaRPr>
          </a:p>
          <a:p>
            <a:pPr marL="1600200" lvl="3" indent="-228600" algn="l" defTabSz="914400">
              <a:lnSpc>
                <a:spcPct val="90000"/>
              </a:lnSpc>
              <a:spcBef>
                <a:spcPts val="499"/>
              </a:spcBef>
              <a:buClr>
                <a:srgbClr val="404040"/>
              </a:buClr>
              <a:buFont typeface="Arial"/>
              <a:buChar char="•"/>
            </a:pPr>
            <a:r>
              <a:rPr lang="es-ES" sz="1800" b="0" u="none" strike="noStrike">
                <a:solidFill>
                  <a:schemeClr val="dk1">
                    <a:lumMod val="75000"/>
                    <a:lumOff val="25000"/>
                  </a:schemeClr>
                </a:solidFill>
                <a:effectLst/>
                <a:uFillTx/>
                <a:latin typeface="Franklin Gothic Book"/>
              </a:rPr>
              <a:t>Cuarto nivel</a:t>
            </a:r>
            <a:endParaRPr lang="es-NI" sz="1800" b="0" u="none" strike="noStrike">
              <a:solidFill>
                <a:schemeClr val="dk1"/>
              </a:solidFill>
              <a:effectLst/>
              <a:uFillTx/>
              <a:latin typeface="Franklin Gothic Book"/>
            </a:endParaRPr>
          </a:p>
          <a:p>
            <a:pPr marL="2057400" lvl="4" indent="-228600" algn="l" defTabSz="914400">
              <a:lnSpc>
                <a:spcPct val="90000"/>
              </a:lnSpc>
              <a:spcBef>
                <a:spcPts val="499"/>
              </a:spcBef>
              <a:buClr>
                <a:srgbClr val="404040"/>
              </a:buClr>
              <a:buFont typeface="Arial"/>
              <a:buChar char="•"/>
            </a:pPr>
            <a:r>
              <a:rPr lang="es-ES" sz="1800" b="0" u="none" strike="noStrike">
                <a:solidFill>
                  <a:schemeClr val="dk1">
                    <a:lumMod val="75000"/>
                    <a:lumOff val="25000"/>
                  </a:schemeClr>
                </a:solidFill>
                <a:effectLst/>
                <a:uFillTx/>
                <a:latin typeface="Franklin Gothic Book"/>
              </a:rPr>
              <a:t>Quinto nivel</a:t>
            </a:r>
            <a:endParaRPr lang="es-NI" sz="1800" b="0" u="none" strike="noStrike">
              <a:solidFill>
                <a:schemeClr val="dk1"/>
              </a:solidFill>
              <a:effectLst/>
              <a:uFillTx/>
              <a:latin typeface="Franklin Gothic Book"/>
            </a:endParaRPr>
          </a:p>
        </p:txBody>
      </p:sp>
      <p:sp>
        <p:nvSpPr>
          <p:cNvPr id="22"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Franklin Gothic Book"/>
              </a:defRPr>
            </a:lvl1pPr>
            <a:lvl2pPr lvl="1" algn="l" defTabSz="914400">
              <a:lnSpc>
                <a:spcPct val="90000"/>
              </a:lnSpc>
              <a:spcBef>
                <a:spcPts val="499"/>
              </a:spcBef>
              <a:buClr>
                <a:srgbClr val="000000"/>
              </a:buClr>
              <a:buFont typeface="Arial"/>
              <a:buChar char="•"/>
              <a:defRPr lang="es-ES" sz="2400" b="0" u="none" strike="noStrike">
                <a:solidFill>
                  <a:schemeClr val="dk1"/>
                </a:solidFill>
                <a:effectLst/>
                <a:uFillTx/>
                <a:latin typeface="Franklin Gothic Book"/>
              </a:defRPr>
            </a:lvl2pPr>
            <a:lvl3pPr lvl="2" algn="l" defTabSz="914400">
              <a:lnSpc>
                <a:spcPct val="90000"/>
              </a:lnSpc>
              <a:spcBef>
                <a:spcPts val="499"/>
              </a:spcBef>
              <a:buClr>
                <a:srgbClr val="000000"/>
              </a:buClr>
              <a:buFont typeface="Arial"/>
              <a:buChar char="•"/>
              <a:defRPr lang="es-ES" sz="2000" b="0" u="none" strike="noStrike">
                <a:solidFill>
                  <a:schemeClr val="dk1"/>
                </a:solidFill>
                <a:effectLst/>
                <a:uFillTx/>
                <a:latin typeface="Franklin Gothic Book"/>
              </a:defRPr>
            </a:lvl3pPr>
            <a:lvl4pPr lvl="3" algn="l" defTabSz="914400">
              <a:lnSpc>
                <a:spcPct val="90000"/>
              </a:lnSpc>
              <a:spcBef>
                <a:spcPts val="499"/>
              </a:spcBef>
              <a:buClr>
                <a:srgbClr val="000000"/>
              </a:buClr>
              <a:buFont typeface="Arial"/>
              <a:buChar char="•"/>
              <a:defRPr lang="es-ES" sz="1800" b="0" u="none" strike="noStrike">
                <a:solidFill>
                  <a:schemeClr val="dk1"/>
                </a:solidFill>
                <a:effectLst/>
                <a:uFillTx/>
                <a:latin typeface="Franklin Gothic Book"/>
              </a:defRPr>
            </a:lvl4pPr>
            <a:lvl5pPr lvl="4" algn="l" defTabSz="914400">
              <a:lnSpc>
                <a:spcPct val="90000"/>
              </a:lnSpc>
              <a:spcBef>
                <a:spcPts val="499"/>
              </a:spcBef>
              <a:buClr>
                <a:srgbClr val="000000"/>
              </a:buClr>
              <a:buFont typeface="Arial"/>
              <a:buChar char="•"/>
              <a:defRPr lang="es-ES" sz="1800" b="0" u="none" strike="noStrike">
                <a:solidFill>
                  <a:schemeClr val="dk1"/>
                </a:solidFill>
                <a:effectLst/>
                <a:uFillTx/>
                <a:latin typeface="Franklin Gothic Book"/>
              </a:defRPr>
            </a:lvl5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Franklin Gothic Book"/>
              </a:rPr>
              <a:t>Editar el estilo de texto del patrón</a:t>
            </a:r>
            <a:endParaRPr lang="es-NI" sz="2800" b="0" u="none" strike="noStrike">
              <a:solidFill>
                <a:schemeClr val="dk1"/>
              </a:solidFill>
              <a:effectLst/>
              <a:uFillTx/>
              <a:latin typeface="Franklin Gothic Book"/>
            </a:endParaRPr>
          </a:p>
          <a:p>
            <a:pPr marL="685800" lvl="1"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Franklin Gothic Book"/>
              </a:rPr>
              <a:t>Segundo nivel</a:t>
            </a:r>
            <a:endParaRPr lang="es-NI" sz="2400" b="0" u="none" strike="noStrike">
              <a:solidFill>
                <a:schemeClr val="dk1"/>
              </a:solidFill>
              <a:effectLst/>
              <a:uFillTx/>
              <a:latin typeface="Franklin Gothic Book"/>
            </a:endParaRPr>
          </a:p>
          <a:p>
            <a:pPr marL="1143000" lvl="2"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Franklin Gothic Book"/>
              </a:rPr>
              <a:t>Tercer nivel</a:t>
            </a:r>
            <a:endParaRPr lang="es-NI" sz="2000" b="0" u="none" strike="noStrike">
              <a:solidFill>
                <a:schemeClr val="dk1"/>
              </a:solidFill>
              <a:effectLst/>
              <a:uFillTx/>
              <a:latin typeface="Franklin Gothic Book"/>
            </a:endParaRPr>
          </a:p>
          <a:p>
            <a:pPr marL="1600200" lvl="3"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Franklin Gothic Book"/>
              </a:rPr>
              <a:t>Cuarto nivel</a:t>
            </a:r>
            <a:endParaRPr lang="es-NI" sz="1800" b="0" u="none" strike="noStrike">
              <a:solidFill>
                <a:schemeClr val="dk1"/>
              </a:solidFill>
              <a:effectLst/>
              <a:uFillTx/>
              <a:latin typeface="Franklin Gothic Book"/>
            </a:endParaRPr>
          </a:p>
          <a:p>
            <a:pPr marL="2057400" lvl="4"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Franklin Gothic Book"/>
              </a:rPr>
              <a:t>Quinto nivel</a:t>
            </a:r>
            <a:endParaRPr lang="es-NI" sz="1800" b="0" u="none" strike="noStrike">
              <a:solidFill>
                <a:schemeClr val="dk1"/>
              </a:solidFill>
              <a:effectLst/>
              <a:uFillTx/>
              <a:latin typeface="Franklin Gothic Book"/>
            </a:endParaRPr>
          </a:p>
        </p:txBody>
      </p:sp>
      <p:sp>
        <p:nvSpPr>
          <p:cNvPr id="23" name="Rectángulo 8"/>
          <p:cNvSpPr/>
          <p:nvPr/>
        </p:nvSpPr>
        <p:spPr>
          <a:xfrm>
            <a:off x="0" y="6542640"/>
            <a:ext cx="12191760" cy="315000"/>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NI" sz="1800" b="0" u="none" strike="noStrike">
              <a:solidFill>
                <a:schemeClr val="lt1"/>
              </a:solidFill>
              <a:effectLst/>
              <a:uFillTx/>
              <a:latin typeface="Franklin Gothic Book"/>
            </a:endParaRPr>
          </a:p>
        </p:txBody>
      </p:sp>
      <p:pic>
        <p:nvPicPr>
          <p:cNvPr id="24" name="Imagen 6"/>
          <p:cNvPicPr/>
          <p:nvPr/>
        </p:nvPicPr>
        <p:blipFill>
          <a:blip r:embed="rId2"/>
          <a:stretch/>
        </p:blipFill>
        <p:spPr>
          <a:xfrm>
            <a:off x="11151000" y="6840"/>
            <a:ext cx="1040760" cy="581040"/>
          </a:xfrm>
          <a:prstGeom prst="rect">
            <a:avLst/>
          </a:prstGeom>
          <a:noFill/>
          <a:ln w="0">
            <a:noFill/>
          </a:ln>
        </p:spPr>
      </p:pic>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 blanco">
    <p:bg>
      <p:bgPr>
        <a:solidFill>
          <a:srgbClr val="FFFFFF"/>
        </a:solidFill>
      </p:bgPr>
    </p:bg>
    <p:spTree>
      <p:nvGrpSpPr>
        <p:cNvPr id="1" name=""/>
        <p:cNvGrpSpPr/>
        <p:nvPr/>
      </p:nvGrpSpPr>
      <p:grpSpPr>
        <a:xfrm>
          <a:off x="0" y="0"/>
          <a:ext cx="0" cy="0"/>
          <a:chOff x="0" y="0"/>
          <a:chExt cx="0" cy="0"/>
        </a:xfrm>
      </p:grpSpPr>
      <p:sp>
        <p:nvSpPr>
          <p:cNvPr id="25" name="Rectángulo 4"/>
          <p:cNvSpPr/>
          <p:nvPr/>
        </p:nvSpPr>
        <p:spPr>
          <a:xfrm>
            <a:off x="0" y="6349320"/>
            <a:ext cx="12191760" cy="508320"/>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NI" sz="1800" b="0" u="none" strike="noStrike">
              <a:solidFill>
                <a:schemeClr val="lt1"/>
              </a:solidFill>
              <a:effectLst/>
              <a:uFillTx/>
              <a:latin typeface="Franklin Gothic Book"/>
            </a:endParaRPr>
          </a:p>
        </p:txBody>
      </p:sp>
      <p:pic>
        <p:nvPicPr>
          <p:cNvPr id="26" name="Imagen 2"/>
          <p:cNvPicPr/>
          <p:nvPr/>
        </p:nvPicPr>
        <p:blipFill>
          <a:blip r:embed="rId2"/>
          <a:stretch/>
        </p:blipFill>
        <p:spPr>
          <a:xfrm>
            <a:off x="2502360" y="2253960"/>
            <a:ext cx="7186680" cy="1918440"/>
          </a:xfrm>
          <a:prstGeom prst="rect">
            <a:avLst/>
          </a:prstGeom>
          <a:noFill/>
          <a:ln w="0">
            <a:noFill/>
          </a:ln>
        </p:spPr>
      </p:pic>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6.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5.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5.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5.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5.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5.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5.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5.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5.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5.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5.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5.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5.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PlaceHolder 1"/>
          <p:cNvSpPr>
            <a:spLocks noGrp="1"/>
          </p:cNvSpPr>
          <p:nvPr>
            <p:ph type="title"/>
          </p:nvPr>
        </p:nvSpPr>
        <p:spPr>
          <a:xfrm>
            <a:off x="180000" y="1709640"/>
            <a:ext cx="11880000" cy="2070360"/>
          </a:xfrm>
          <a:prstGeom prst="rect">
            <a:avLst/>
          </a:prstGeom>
          <a:noFill/>
          <a:ln w="0">
            <a:noFill/>
          </a:ln>
        </p:spPr>
        <p:txBody>
          <a:bodyPr lIns="91440" tIns="45720" rIns="91440" bIns="45720" anchor="b">
            <a:noAutofit/>
          </a:bodyPr>
          <a:p>
            <a:pPr indent="0" algn="l" defTabSz="914400">
              <a:lnSpc>
                <a:spcPct val="90000"/>
              </a:lnSpc>
              <a:buNone/>
            </a:pPr>
            <a:r>
              <a:rPr lang="es-NI" sz="6000" b="0" u="none" strike="noStrike">
                <a:solidFill>
                  <a:schemeClr val="lt1"/>
                </a:solidFill>
                <a:effectLst/>
                <a:uFillTx/>
                <a:latin typeface="Franklin Gothic Medium"/>
              </a:rPr>
              <a:t>Tecnologías de Colaboración Digital </a:t>
            </a:r>
            <a:endParaRPr lang="es-NI" sz="6000" b="0" u="none" strike="noStrike">
              <a:solidFill>
                <a:schemeClr val="lt1"/>
              </a:solidFill>
              <a:effectLst/>
              <a:uFillTx/>
              <a:latin typeface="Franklin Gothic Medium"/>
            </a:endParaRPr>
          </a:p>
        </p:txBody>
      </p:sp>
      <p:sp>
        <p:nvSpPr>
          <p:cNvPr id="34" name="PlaceHolder 2"/>
          <p:cNvSpPr>
            <a:spLocks noGrp="1"/>
          </p:cNvSpPr>
          <p:nvPr>
            <p:ph/>
          </p:nvPr>
        </p:nvSpPr>
        <p:spPr>
          <a:xfrm>
            <a:off x="831960" y="4589640"/>
            <a:ext cx="10515240" cy="1499760"/>
          </a:xfrm>
          <a:prstGeom prst="rect">
            <a:avLst/>
          </a:prstGeom>
          <a:noFill/>
          <a:ln w="0">
            <a:noFill/>
          </a:ln>
        </p:spPr>
        <p:txBody>
          <a:bodyPr lIns="91440" tIns="45720" rIns="91440" bIns="45720" anchor="t">
            <a:noAutofit/>
          </a:bodyPr>
          <a:p>
            <a:pPr indent="0" algn="l" defTabSz="914400">
              <a:lnSpc>
                <a:spcPct val="90000"/>
              </a:lnSpc>
              <a:spcBef>
                <a:spcPts val="1001"/>
              </a:spcBef>
              <a:tabLst>
                <a:tab pos="0" algn="l"/>
              </a:tabLst>
            </a:pPr>
            <a:r>
              <a:rPr lang="es-NI" sz="3600" b="0" u="none" strike="noStrike">
                <a:solidFill>
                  <a:schemeClr val="lt1"/>
                </a:solidFill>
                <a:effectLst/>
                <a:uFillTx/>
                <a:latin typeface="Franklin Gothic Book"/>
              </a:rPr>
              <a:t>Segundo Semestre 2026</a:t>
            </a:r>
            <a:endParaRPr lang="es-NI" sz="3600" b="0" u="none" strike="noStrike">
              <a:solidFill>
                <a:schemeClr val="lt1"/>
              </a:solidFill>
              <a:effectLst/>
              <a:uFillTx/>
              <a:latin typeface="Franklin Gothic Book"/>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PlaceHolder 1"/>
          <p:cNvSpPr>
            <a:spLocks noGrp="1"/>
          </p:cNvSpPr>
          <p:nvPr>
            <p:ph type="title"/>
          </p:nvPr>
        </p:nvSpPr>
        <p:spPr>
          <a:xfrm>
            <a:off x="1523880" y="1122480"/>
            <a:ext cx="9143640" cy="2387160"/>
          </a:xfrm>
          <a:prstGeom prst="rect">
            <a:avLst/>
          </a:prstGeom>
          <a:noFill/>
          <a:ln w="0">
            <a:noFill/>
          </a:ln>
        </p:spPr>
        <p:txBody>
          <a:bodyPr lIns="0" tIns="0" rIns="0" bIns="0" anchor="ctr">
            <a:spAutoFit/>
          </a:bodyPr>
          <a:p>
            <a:pPr indent="0" algn="ctr" defTabSz="914400">
              <a:lnSpc>
                <a:spcPct val="100000"/>
              </a:lnSpc>
              <a:buNone/>
            </a:pPr>
            <a:r>
              <a:rPr lang="es-NI" sz="1000" b="1" u="none" strike="noStrike">
                <a:solidFill>
                  <a:srgbClr val="FFFFFF"/>
                </a:solidFill>
                <a:effectLst/>
                <a:uFillTx/>
                <a:latin typeface="Arial"/>
                <a:ea typeface="Arial"/>
              </a:rPr>
              <a:t>Unidad II</a:t>
            </a:r>
            <a:r>
              <a:rPr lang="es-NI" sz="1000" b="0" u="none" strike="noStrike">
                <a:solidFill>
                  <a:schemeClr val="dk1">
                    <a:lumMod val="75000"/>
                    <a:lumOff val="25000"/>
                  </a:schemeClr>
                </a:solidFill>
                <a:effectLst/>
                <a:uFillTx/>
                <a:latin typeface="Arial"/>
              </a:rPr>
              <a:t> </a:t>
            </a:r>
            <a:r>
              <a:rPr lang="es-NI" sz="1000" b="1" u="none" strike="noStrike">
                <a:solidFill>
                  <a:srgbClr val="FFFFFF"/>
                </a:solidFill>
                <a:effectLst/>
                <a:uFillTx/>
                <a:latin typeface="Arial"/>
                <a:ea typeface="Arial"/>
              </a:rPr>
              <a:t>Introducción a las plataformas de colaboración digital.</a:t>
            </a:r>
            <a:endParaRPr lang="es-NI" sz="1000" b="0" u="none" strike="noStrike">
              <a:solidFill>
                <a:schemeClr val="dk1">
                  <a:lumMod val="75000"/>
                  <a:lumOff val="25000"/>
                </a:schemeClr>
              </a:solidFill>
              <a:effectLst/>
              <a:uFillTx/>
              <a:latin typeface="Arial"/>
            </a:endParaRPr>
          </a:p>
        </p:txBody>
      </p:sp>
      <p:sp>
        <p:nvSpPr>
          <p:cNvPr id="36" name="PlaceHolder 2"/>
          <p:cNvSpPr>
            <a:spLocks noGrp="1"/>
          </p:cNvSpPr>
          <p:nvPr>
            <p:ph/>
          </p:nvPr>
        </p:nvSpPr>
        <p:spPr>
          <a:xfrm>
            <a:off x="180000" y="376920"/>
            <a:ext cx="11700000" cy="6103080"/>
          </a:xfrm>
          <a:prstGeom prst="rect">
            <a:avLst/>
          </a:prstGeom>
          <a:noFill/>
          <a:ln w="0">
            <a:noFill/>
          </a:ln>
        </p:spPr>
        <p:txBody>
          <a:bodyPr lIns="0" tIns="0" rIns="0" bIns="0" anchor="t">
            <a:spAutoFit/>
          </a:bodyPr>
          <a:p>
            <a:pPr indent="0" algn="l" defTabSz="914400">
              <a:lnSpc>
                <a:spcPct val="90000"/>
              </a:lnSpc>
              <a:spcBef>
                <a:spcPts val="1001"/>
              </a:spcBef>
              <a:buNone/>
            </a:pPr>
            <a:r>
              <a:rPr lang="es-NI" sz="2800" b="1" u="none" strike="noStrike">
                <a:solidFill>
                  <a:srgbClr val="FFFFFF"/>
                </a:solidFill>
                <a:effectLst/>
                <a:uFillTx/>
                <a:latin typeface="Franklin Gothic Book"/>
              </a:rPr>
              <a:t>Unidad II Introducción a las plataformas de colaboración digital.</a:t>
            </a:r>
            <a:endParaRPr lang="es-NI" sz="2800" b="0" u="none" strike="noStrike">
              <a:solidFill>
                <a:schemeClr val="dk1"/>
              </a:solidFill>
              <a:effectLst/>
              <a:uFillTx/>
              <a:latin typeface="Franklin Gothic Book"/>
            </a:endParaRPr>
          </a:p>
          <a:p>
            <a:pPr indent="0" algn="l" defTabSz="914400">
              <a:lnSpc>
                <a:spcPct val="90000"/>
              </a:lnSpc>
              <a:spcBef>
                <a:spcPts val="1001"/>
              </a:spcBef>
              <a:buNone/>
            </a:pPr>
            <a:endParaRPr lang="es-NI" sz="2800" b="0" u="none" strike="noStrike">
              <a:solidFill>
                <a:schemeClr val="dk1"/>
              </a:solidFill>
              <a:effectLst/>
              <a:uFillTx/>
              <a:latin typeface="Franklin Gothic Book"/>
            </a:endParaRPr>
          </a:p>
          <a:p>
            <a:pPr indent="0" algn="l" defTabSz="914400">
              <a:lnSpc>
                <a:spcPct val="90000"/>
              </a:lnSpc>
              <a:spcBef>
                <a:spcPts val="1001"/>
              </a:spcBef>
              <a:buNone/>
            </a:pPr>
            <a:r>
              <a:rPr lang="es-NI" sz="2600" b="0" u="none" strike="noStrike">
                <a:solidFill>
                  <a:schemeClr val="dk1"/>
                </a:solidFill>
                <a:effectLst/>
                <a:uFillTx/>
                <a:latin typeface="Franklin Gothic Book"/>
              </a:rPr>
              <a:t>Sesión 3</a:t>
            </a:r>
            <a:endParaRPr lang="es-NI" sz="2600" b="0" u="none" strike="noStrike">
              <a:solidFill>
                <a:schemeClr val="dk1"/>
              </a:solidFill>
              <a:effectLst/>
              <a:uFillTx/>
              <a:latin typeface="Franklin Gothic Book"/>
            </a:endParaRPr>
          </a:p>
          <a:p>
            <a:pPr indent="0" algn="l" defTabSz="914400">
              <a:lnSpc>
                <a:spcPct val="90000"/>
              </a:lnSpc>
              <a:spcBef>
                <a:spcPts val="1001"/>
              </a:spcBef>
              <a:buNone/>
            </a:pPr>
            <a:endParaRPr lang="es-NI" sz="2600" b="0" u="none" strike="noStrike">
              <a:solidFill>
                <a:schemeClr val="dk1"/>
              </a:solidFill>
              <a:effectLst/>
              <a:uFillTx/>
              <a:latin typeface="Franklin Gothic Book"/>
            </a:endParaRPr>
          </a:p>
          <a:p>
            <a:pPr indent="0" algn="l" defTabSz="914400">
              <a:lnSpc>
                <a:spcPct val="90000"/>
              </a:lnSpc>
              <a:spcBef>
                <a:spcPts val="1001"/>
              </a:spcBef>
              <a:buNone/>
            </a:pPr>
            <a:r>
              <a:rPr lang="es-NI" sz="2600" b="0" u="none" strike="noStrike">
                <a:solidFill>
                  <a:schemeClr val="dk1"/>
                </a:solidFill>
                <a:effectLst/>
                <a:uFillTx/>
                <a:latin typeface="Franklin Gothic Book"/>
              </a:rPr>
              <a:t>Indicador de logro: IL2.1 Describe de manera clara y precisa la evolución de las plataformas de colaboración digital, identificando sus beneficios principales en casos de uso específicos en empresas, educación y proyectos colaborativos.</a:t>
            </a:r>
            <a:endParaRPr lang="es-NI" sz="2600" b="0" u="none" strike="noStrike">
              <a:solidFill>
                <a:schemeClr val="dk1"/>
              </a:solidFill>
              <a:effectLst/>
              <a:uFillTx/>
              <a:latin typeface="Franklin Gothic Book"/>
            </a:endParaRPr>
          </a:p>
          <a:p>
            <a:pPr indent="0" algn="l" defTabSz="914400">
              <a:lnSpc>
                <a:spcPct val="90000"/>
              </a:lnSpc>
              <a:spcBef>
                <a:spcPts val="1001"/>
              </a:spcBef>
              <a:buNone/>
            </a:pPr>
            <a:endParaRPr lang="es-NI" sz="2600" b="0" u="none" strike="noStrike">
              <a:solidFill>
                <a:schemeClr val="dk1"/>
              </a:solidFill>
              <a:effectLst/>
              <a:uFillTx/>
              <a:latin typeface="Franklin Gothic Book"/>
            </a:endParaRPr>
          </a:p>
          <a:p>
            <a:pPr indent="0" algn="l" defTabSz="914400">
              <a:lnSpc>
                <a:spcPct val="90000"/>
              </a:lnSpc>
              <a:spcBef>
                <a:spcPts val="1001"/>
              </a:spcBef>
              <a:buNone/>
            </a:pPr>
            <a:r>
              <a:rPr lang="es-NI" sz="2600" b="0" u="none" strike="noStrike">
                <a:solidFill>
                  <a:schemeClr val="dk1"/>
                </a:solidFill>
                <a:effectLst/>
                <a:uFillTx/>
                <a:latin typeface="Franklin Gothic Book"/>
              </a:rPr>
              <a:t>Contenidos:</a:t>
            </a:r>
            <a:endParaRPr lang="es-NI" sz="2600" b="0" u="none" strike="noStrike">
              <a:solidFill>
                <a:schemeClr val="dk1"/>
              </a:solidFill>
              <a:effectLst/>
              <a:uFillTx/>
              <a:latin typeface="Franklin Gothic Book"/>
            </a:endParaRPr>
          </a:p>
          <a:p>
            <a:pPr marL="228600" indent="-228600" algn="l" defTabSz="914400">
              <a:lnSpc>
                <a:spcPct val="90000"/>
              </a:lnSpc>
              <a:spcBef>
                <a:spcPts val="1001"/>
              </a:spcBef>
              <a:buClr>
                <a:srgbClr val="000000"/>
              </a:buClr>
              <a:buFont typeface="OpenSymbol"/>
              <a:buChar char="◦"/>
            </a:pPr>
            <a:r>
              <a:rPr lang="es-NI" sz="2600" b="0" u="none" strike="noStrike">
                <a:solidFill>
                  <a:schemeClr val="dk1"/>
                </a:solidFill>
                <a:effectLst/>
                <a:uFillTx/>
                <a:latin typeface="Franklin Gothic Book"/>
              </a:rPr>
              <a:t>La internet</a:t>
            </a:r>
            <a:endParaRPr lang="es-NI" sz="2600" b="0" u="none" strike="noStrike">
              <a:solidFill>
                <a:schemeClr val="dk1"/>
              </a:solidFill>
              <a:effectLst/>
              <a:uFillTx/>
              <a:latin typeface="Franklin Gothic Book"/>
            </a:endParaRPr>
          </a:p>
          <a:p>
            <a:pPr marL="228600" indent="-228600" algn="l" defTabSz="914400">
              <a:lnSpc>
                <a:spcPct val="90000"/>
              </a:lnSpc>
              <a:spcBef>
                <a:spcPts val="1001"/>
              </a:spcBef>
              <a:buClr>
                <a:srgbClr val="000000"/>
              </a:buClr>
              <a:buFont typeface="OpenSymbol"/>
              <a:buChar char="◦"/>
            </a:pPr>
            <a:r>
              <a:rPr lang="es-NI" sz="2600" b="0" u="none" strike="noStrike">
                <a:solidFill>
                  <a:schemeClr val="dk1"/>
                </a:solidFill>
                <a:effectLst/>
                <a:uFillTx/>
                <a:latin typeface="Franklin Gothic Book"/>
              </a:rPr>
              <a:t>Definición y propósito de las plataformas de colaboración digital.</a:t>
            </a:r>
            <a:endParaRPr lang="es-NI" sz="2600" b="0" u="none" strike="noStrike">
              <a:solidFill>
                <a:schemeClr val="dk1"/>
              </a:solidFill>
              <a:effectLst/>
              <a:uFillTx/>
              <a:latin typeface="Franklin Gothic Book"/>
            </a:endParaRPr>
          </a:p>
          <a:p>
            <a:pPr marL="228600" indent="-228600" algn="l" defTabSz="914400">
              <a:lnSpc>
                <a:spcPct val="90000"/>
              </a:lnSpc>
              <a:spcBef>
                <a:spcPts val="1001"/>
              </a:spcBef>
              <a:buClr>
                <a:srgbClr val="000000"/>
              </a:buClr>
              <a:buFont typeface="OpenSymbol"/>
              <a:buChar char="◦"/>
            </a:pPr>
            <a:r>
              <a:rPr lang="es-NI" sz="2600" b="0" u="none" strike="noStrike">
                <a:solidFill>
                  <a:schemeClr val="dk1"/>
                </a:solidFill>
                <a:effectLst/>
                <a:uFillTx/>
                <a:latin typeface="Franklin Gothic Book"/>
              </a:rPr>
              <a:t>Historia y evolución de las herramientas de colaboración.</a:t>
            </a:r>
            <a:endParaRPr lang="es-NI" sz="2600" b="0" u="none" strike="noStrike">
              <a:solidFill>
                <a:schemeClr val="dk1"/>
              </a:solidFill>
              <a:effectLst/>
              <a:uFillTx/>
              <a:latin typeface="Franklin Gothic Book"/>
            </a:endParaRPr>
          </a:p>
          <a:p>
            <a:pPr marL="228600" indent="-228600" algn="l" defTabSz="914400">
              <a:lnSpc>
                <a:spcPct val="90000"/>
              </a:lnSpc>
              <a:spcBef>
                <a:spcPts val="1001"/>
              </a:spcBef>
              <a:buClr>
                <a:srgbClr val="000000"/>
              </a:buClr>
              <a:buFont typeface="OpenSymbol"/>
              <a:buChar char="◦"/>
            </a:pPr>
            <a:r>
              <a:rPr lang="es-NI" sz="2600" b="0" u="none" strike="noStrike">
                <a:solidFill>
                  <a:schemeClr val="dk1"/>
                </a:solidFill>
                <a:effectLst/>
                <a:uFillTx/>
                <a:latin typeface="Franklin Gothic Book"/>
              </a:rPr>
              <a:t>Beneficios de la colaboración en línea: productividad, flexibilidad y comunicación.</a:t>
            </a:r>
            <a:endParaRPr lang="es-NI" sz="2600" b="0" u="none" strike="noStrike">
              <a:solidFill>
                <a:schemeClr val="dk1"/>
              </a:solidFill>
              <a:effectLst/>
              <a:uFillTx/>
              <a:latin typeface="Franklin Gothic Book"/>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 name=""/>
          <p:cNvPicPr/>
          <p:nvPr/>
        </p:nvPicPr>
        <p:blipFill>
          <a:blip r:embed="rId1"/>
          <a:stretch/>
        </p:blipFill>
        <p:spPr>
          <a:xfrm>
            <a:off x="1080" y="180000"/>
            <a:ext cx="11541240" cy="630000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Rectangle 1"/>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 name="TextBox 2"/>
          <p:cNvSpPr/>
          <p:nvPr/>
        </p:nvSpPr>
        <p:spPr>
          <a:xfrm>
            <a:off x="548640" y="320040"/>
            <a:ext cx="501372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Plataformas de colaboración digital</a:t>
            </a:r>
            <a:endParaRPr lang="es-NI" sz="2600" b="0" u="none" strike="noStrike">
              <a:solidFill>
                <a:srgbClr val="000000"/>
              </a:solidFill>
              <a:effectLst/>
              <a:uFillTx/>
              <a:latin typeface="Arial"/>
            </a:endParaRPr>
          </a:p>
        </p:txBody>
      </p:sp>
      <p:sp>
        <p:nvSpPr>
          <p:cNvPr id="40" name="TextBox 3"/>
          <p:cNvSpPr/>
          <p:nvPr/>
        </p:nvSpPr>
        <p:spPr>
          <a:xfrm>
            <a:off x="731520" y="1417320"/>
            <a:ext cx="6583680" cy="1263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De la infraestructura Internet al trabajo colaborativo</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Modelo 3C: Comunicación • Coordinación • Cooperación</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Impacto, gobernanza y casos de uso</a:t>
            </a:r>
            <a:endParaRPr lang="es-NI" sz="1900" b="0" u="none" strike="noStrike">
              <a:solidFill>
                <a:srgbClr val="000000"/>
              </a:solidFill>
              <a:effectLst/>
              <a:uFillTx/>
              <a:latin typeface="Arial"/>
            </a:endParaRPr>
          </a:p>
        </p:txBody>
      </p:sp>
      <p:sp>
        <p:nvSpPr>
          <p:cNvPr id="41" name="Oval 2"/>
          <p:cNvSpPr/>
          <p:nvPr/>
        </p:nvSpPr>
        <p:spPr>
          <a:xfrm>
            <a:off x="7772400" y="1508760"/>
            <a:ext cx="3657240" cy="3474360"/>
          </a:xfrm>
          <a:prstGeom prst="ellipse">
            <a:avLst/>
          </a:prstGeom>
          <a:solidFill>
            <a:srgbClr val="F2F6FA"/>
          </a:solidFill>
          <a:ln>
            <a:solidFill>
              <a:srgbClr val="3764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1" u="none" strike="noStrike">
                <a:solidFill>
                  <a:srgbClr val="3764A0"/>
                </a:solidFill>
                <a:effectLst/>
                <a:uFillTx/>
                <a:latin typeface="Calibri"/>
              </a:rPr>
              <a:t>red digital conectando personas, equipos y dispositivos.</a:t>
            </a:r>
            <a:endParaRPr lang="es-NI" sz="1800" b="0" u="none" strike="noStrike">
              <a:solidFill>
                <a:srgbClr val="000000"/>
              </a:solidFill>
              <a:effectLst/>
              <a:uFillTx/>
              <a:latin typeface="Arial"/>
            </a:endParaRPr>
          </a:p>
        </p:txBody>
      </p:sp>
      <p:sp>
        <p:nvSpPr>
          <p:cNvPr id="42" name="TextBox 5"/>
          <p:cNvSpPr/>
          <p:nvPr/>
        </p:nvSpPr>
        <p:spPr>
          <a:xfrm>
            <a:off x="594360" y="6446520"/>
            <a:ext cx="202284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1</a:t>
            </a:r>
            <a:endParaRPr lang="es-NI"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Rectangle 2"/>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 name="TextBox 1"/>
          <p:cNvSpPr/>
          <p:nvPr/>
        </p:nvSpPr>
        <p:spPr>
          <a:xfrm>
            <a:off x="548640" y="320040"/>
            <a:ext cx="392436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Ruta de aprendizaje y logro</a:t>
            </a:r>
            <a:endParaRPr lang="es-NI" sz="2600" b="0" u="none" strike="noStrike">
              <a:solidFill>
                <a:srgbClr val="000000"/>
              </a:solidFill>
              <a:effectLst/>
              <a:uFillTx/>
              <a:latin typeface="Arial"/>
            </a:endParaRPr>
          </a:p>
        </p:txBody>
      </p:sp>
      <p:sp>
        <p:nvSpPr>
          <p:cNvPr id="45" name="TextBox 4"/>
          <p:cNvSpPr/>
          <p:nvPr/>
        </p:nvSpPr>
        <p:spPr>
          <a:xfrm>
            <a:off x="180000" y="1620000"/>
            <a:ext cx="3960000" cy="257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Internet como infraestructura habilitante</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Evolución de las plataformas y modelo 3C</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Beneficios, riesgos y casos de uso</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Cierre: reconocer el 3C en experiencias propias</a:t>
            </a:r>
            <a:endParaRPr lang="es-NI" sz="1900" b="0" u="none" strike="noStrike">
              <a:solidFill>
                <a:srgbClr val="000000"/>
              </a:solidFill>
              <a:effectLst/>
              <a:uFillTx/>
              <a:latin typeface="Arial"/>
            </a:endParaRPr>
          </a:p>
        </p:txBody>
      </p:sp>
      <p:sp>
        <p:nvSpPr>
          <p:cNvPr id="46" name="TextBox 6"/>
          <p:cNvSpPr/>
          <p:nvPr/>
        </p:nvSpPr>
        <p:spPr>
          <a:xfrm>
            <a:off x="594360" y="6446520"/>
            <a:ext cx="202284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2</a:t>
            </a:r>
            <a:endParaRPr lang="es-NI" sz="900" b="0" u="none" strike="noStrike">
              <a:solidFill>
                <a:srgbClr val="000000"/>
              </a:solidFill>
              <a:effectLst/>
              <a:uFillTx/>
              <a:latin typeface="Arial"/>
            </a:endParaRPr>
          </a:p>
        </p:txBody>
      </p:sp>
      <p:pic>
        <p:nvPicPr>
          <p:cNvPr id="47" name=""/>
          <p:cNvPicPr/>
          <p:nvPr/>
        </p:nvPicPr>
        <p:blipFill>
          <a:blip r:embed="rId1"/>
          <a:stretch/>
        </p:blipFill>
        <p:spPr>
          <a:xfrm>
            <a:off x="4140000" y="1800000"/>
            <a:ext cx="8052120" cy="439560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Rectangle 3"/>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9" name="TextBox 7"/>
          <p:cNvSpPr/>
          <p:nvPr/>
        </p:nvSpPr>
        <p:spPr>
          <a:xfrm>
            <a:off x="548640" y="320040"/>
            <a:ext cx="634248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BLOQUE 1 · De la Red al Trabajo Colaborativo</a:t>
            </a:r>
            <a:endParaRPr lang="es-NI" sz="2600" b="0" u="none" strike="noStrike">
              <a:solidFill>
                <a:srgbClr val="000000"/>
              </a:solidFill>
              <a:effectLst/>
              <a:uFillTx/>
              <a:latin typeface="Arial"/>
            </a:endParaRPr>
          </a:p>
        </p:txBody>
      </p:sp>
      <p:sp>
        <p:nvSpPr>
          <p:cNvPr id="50" name="TextBox 8"/>
          <p:cNvSpPr/>
          <p:nvPr/>
        </p:nvSpPr>
        <p:spPr>
          <a:xfrm>
            <a:off x="787680" y="1256760"/>
            <a:ext cx="7132320" cy="1263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¿Cómo pasamos de consultar información a trabajar conjuntamente?</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Internet → Web → interacción → colaboración</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La tecnología cambia las posibilidades de acción colectiva</a:t>
            </a:r>
            <a:endParaRPr lang="es-NI" sz="1900" b="0" u="none" strike="noStrike">
              <a:solidFill>
                <a:srgbClr val="000000"/>
              </a:solidFill>
              <a:effectLst/>
              <a:uFillTx/>
              <a:latin typeface="Arial"/>
            </a:endParaRPr>
          </a:p>
        </p:txBody>
      </p:sp>
      <p:sp>
        <p:nvSpPr>
          <p:cNvPr id="51" name="Oval 4"/>
          <p:cNvSpPr/>
          <p:nvPr/>
        </p:nvSpPr>
        <p:spPr>
          <a:xfrm>
            <a:off x="8229600" y="1828800"/>
            <a:ext cx="2925720" cy="2559960"/>
          </a:xfrm>
          <a:prstGeom prst="ellipse">
            <a:avLst/>
          </a:prstGeom>
          <a:solidFill>
            <a:srgbClr val="F2F6FA"/>
          </a:solidFill>
          <a:ln>
            <a:solidFill>
              <a:srgbClr val="3764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1" u="none" strike="noStrike">
                <a:solidFill>
                  <a:srgbClr val="3764A0"/>
                </a:solidFill>
                <a:effectLst/>
                <a:uFillTx/>
                <a:latin typeface="Calibri"/>
              </a:rPr>
              <a:t>transición de red → personas → equipo.</a:t>
            </a:r>
            <a:endParaRPr lang="es-NI" sz="1800" b="0" u="none" strike="noStrike">
              <a:solidFill>
                <a:srgbClr val="000000"/>
              </a:solidFill>
              <a:effectLst/>
              <a:uFillTx/>
              <a:latin typeface="Arial"/>
            </a:endParaRPr>
          </a:p>
        </p:txBody>
      </p:sp>
      <p:sp>
        <p:nvSpPr>
          <p:cNvPr id="52" name="TextBox 9"/>
          <p:cNvSpPr/>
          <p:nvPr/>
        </p:nvSpPr>
        <p:spPr>
          <a:xfrm>
            <a:off x="594360" y="6446520"/>
            <a:ext cx="202284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3</a:t>
            </a:r>
            <a:endParaRPr lang="es-NI" sz="900" b="0" u="none" strike="noStrike">
              <a:solidFill>
                <a:srgbClr val="000000"/>
              </a:solidFill>
              <a:effectLst/>
              <a:uFillTx/>
              <a:latin typeface="Arial"/>
            </a:endParaRPr>
          </a:p>
        </p:txBody>
      </p:sp>
      <p:pic>
        <p:nvPicPr>
          <p:cNvPr id="53" name=""/>
          <p:cNvPicPr/>
          <p:nvPr/>
        </p:nvPicPr>
        <p:blipFill>
          <a:blip r:embed="rId1"/>
          <a:stretch/>
        </p:blipFill>
        <p:spPr>
          <a:xfrm>
            <a:off x="2624400" y="3328560"/>
            <a:ext cx="4215600" cy="31514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 name="Rectangle 4"/>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5" name="TextBox 10"/>
          <p:cNvSpPr/>
          <p:nvPr/>
        </p:nvSpPr>
        <p:spPr>
          <a:xfrm>
            <a:off x="548640" y="320040"/>
            <a:ext cx="556560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Internet: la infraestructura que conecta</a:t>
            </a:r>
            <a:endParaRPr lang="es-NI" sz="2600" b="0" u="none" strike="noStrike">
              <a:solidFill>
                <a:srgbClr val="000000"/>
              </a:solidFill>
              <a:effectLst/>
              <a:uFillTx/>
              <a:latin typeface="Arial"/>
            </a:endParaRPr>
          </a:p>
        </p:txBody>
      </p:sp>
      <p:sp>
        <p:nvSpPr>
          <p:cNvPr id="56" name="TextBox 11"/>
          <p:cNvSpPr/>
          <p:nvPr/>
        </p:nvSpPr>
        <p:spPr>
          <a:xfrm>
            <a:off x="731520" y="1417320"/>
            <a:ext cx="6583680" cy="4325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Red global que interconecta sistemas y servicios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Infraestructura multicapa para múltiples plataformas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Base técnica para comunicación e intercambio de datos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Operada mediante estándares de comunicación universales (como TCP/IP, DNS y HTTP) que garantizan su descentralización y escalabilidad global.</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Actúa como la infraestructura habilitante y la base sobre la que se construye el mundo digital actual y el modelo 3C (Comunicación, Coordinación, Cooperación:</a:t>
            </a:r>
            <a:r>
              <a:rPr lang="en-US" sz="1900" b="0" u="none" strike="noStrike">
                <a:solidFill>
                  <a:srgbClr val="232323"/>
                </a:solidFill>
                <a:effectLst/>
                <a:uFillTx/>
                <a:latin typeface="Calibri"/>
              </a:rPr>
              <a:t>	</a:t>
            </a:r>
            <a:r>
              <a:rPr lang="en-US" sz="1900" b="0" u="none" strike="noStrike">
                <a:solidFill>
                  <a:srgbClr val="232323"/>
                </a:solidFill>
                <a:effectLst/>
                <a:uFillTx/>
                <a:latin typeface="Calibri"/>
              </a:rPr>
              <a:t> Colaboración).</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Entorno dinámico que ha evolucionado desde el intercambio básico de texto (ARPANET) hasta la integración de plataformas en la nube y la Inteligencia Artificial.</a:t>
            </a:r>
            <a:endParaRPr lang="es-NI" sz="1900" b="0" u="none" strike="noStrike">
              <a:solidFill>
                <a:srgbClr val="000000"/>
              </a:solidFill>
              <a:effectLst/>
              <a:uFillTx/>
              <a:latin typeface="Arial"/>
            </a:endParaRPr>
          </a:p>
        </p:txBody>
      </p:sp>
      <p:sp>
        <p:nvSpPr>
          <p:cNvPr id="57" name="TextBox 12"/>
          <p:cNvSpPr/>
          <p:nvPr/>
        </p:nvSpPr>
        <p:spPr>
          <a:xfrm>
            <a:off x="594360" y="6446520"/>
            <a:ext cx="202284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4</a:t>
            </a:r>
            <a:endParaRPr lang="es-NI" sz="900" b="0" u="none" strike="noStrike">
              <a:solidFill>
                <a:srgbClr val="000000"/>
              </a:solidFill>
              <a:effectLst/>
              <a:uFillTx/>
              <a:latin typeface="Arial"/>
            </a:endParaRPr>
          </a:p>
        </p:txBody>
      </p:sp>
      <p:pic>
        <p:nvPicPr>
          <p:cNvPr id="58" name="Internet: Red de Redes"/>
          <p:cNvPicPr/>
          <p:nvPr/>
        </p:nvPicPr>
        <p:blipFill>
          <a:blip r:embed="rId1"/>
          <a:stretch/>
        </p:blipFill>
        <p:spPr>
          <a:xfrm>
            <a:off x="7380000" y="2337120"/>
            <a:ext cx="4686120" cy="234288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 name="Rectangle 5"/>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0" name="TextBox 13"/>
          <p:cNvSpPr/>
          <p:nvPr/>
        </p:nvSpPr>
        <p:spPr>
          <a:xfrm>
            <a:off x="548640" y="320040"/>
            <a:ext cx="614088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De Web 1.0 a Web 4.0: una evolución social</a:t>
            </a:r>
            <a:endParaRPr lang="es-NI" sz="2600" b="0" u="none" strike="noStrike">
              <a:solidFill>
                <a:srgbClr val="000000"/>
              </a:solidFill>
              <a:effectLst/>
              <a:uFillTx/>
              <a:latin typeface="Arial"/>
            </a:endParaRPr>
          </a:p>
        </p:txBody>
      </p:sp>
      <p:sp>
        <p:nvSpPr>
          <p:cNvPr id="61" name="TextBox 14"/>
          <p:cNvSpPr/>
          <p:nvPr/>
        </p:nvSpPr>
        <p:spPr>
          <a:xfrm>
            <a:off x="900000" y="2520000"/>
            <a:ext cx="3408480" cy="2131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Web 1.0 → cognición e información estática</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Web 2.0 → comunicación y participación</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Web 3.0/Web Semántica → cooperación e interoperabilidad</a:t>
            </a:r>
            <a:endParaRPr lang="es-NI" sz="1900" b="0" u="none" strike="noStrike">
              <a:solidFill>
                <a:srgbClr val="000000"/>
              </a:solidFill>
              <a:effectLst/>
              <a:uFillTx/>
              <a:latin typeface="Arial"/>
            </a:endParaRPr>
          </a:p>
        </p:txBody>
      </p:sp>
      <p:sp>
        <p:nvSpPr>
          <p:cNvPr id="62" name="TextBox 15"/>
          <p:cNvSpPr/>
          <p:nvPr/>
        </p:nvSpPr>
        <p:spPr>
          <a:xfrm>
            <a:off x="594360" y="6446520"/>
            <a:ext cx="202284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5</a:t>
            </a:r>
            <a:endParaRPr lang="es-NI" sz="900" b="0" u="none" strike="noStrike">
              <a:solidFill>
                <a:srgbClr val="000000"/>
              </a:solidFill>
              <a:effectLst/>
              <a:uFillTx/>
              <a:latin typeface="Arial"/>
            </a:endParaRPr>
          </a:p>
        </p:txBody>
      </p:sp>
      <p:pic>
        <p:nvPicPr>
          <p:cNvPr id="63" name=""/>
          <p:cNvPicPr/>
          <p:nvPr/>
        </p:nvPicPr>
        <p:blipFill>
          <a:blip r:embed="rId1"/>
          <a:stretch/>
        </p:blipFill>
        <p:spPr>
          <a:xfrm>
            <a:off x="4860000" y="1980000"/>
            <a:ext cx="7329600" cy="412272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 name="Rectangle 6"/>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5" name="TextBox 16"/>
          <p:cNvSpPr/>
          <p:nvPr/>
        </p:nvSpPr>
        <p:spPr>
          <a:xfrm>
            <a:off x="548640" y="320040"/>
            <a:ext cx="689868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Del consumo de información a la acción conjunta</a:t>
            </a:r>
            <a:endParaRPr lang="es-NI" sz="2600" b="0" u="none" strike="noStrike">
              <a:solidFill>
                <a:srgbClr val="000000"/>
              </a:solidFill>
              <a:effectLst/>
              <a:uFillTx/>
              <a:latin typeface="Arial"/>
            </a:endParaRPr>
          </a:p>
        </p:txBody>
      </p:sp>
      <p:sp>
        <p:nvSpPr>
          <p:cNvPr id="66" name="TextBox 17"/>
          <p:cNvSpPr/>
          <p:nvPr/>
        </p:nvSpPr>
        <p:spPr>
          <a:xfrm>
            <a:off x="180000" y="2188440"/>
            <a:ext cx="4140000" cy="2131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Contenido → interacción → coordinación → producción compartida</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Las tecnologías habilitan nuevas formas de trabajo</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Surgen ecosistemas de herramientas conectadas</a:t>
            </a:r>
            <a:endParaRPr lang="es-NI" sz="1900" b="0" u="none" strike="noStrike">
              <a:solidFill>
                <a:srgbClr val="000000"/>
              </a:solidFill>
              <a:effectLst/>
              <a:uFillTx/>
              <a:latin typeface="Arial"/>
            </a:endParaRPr>
          </a:p>
        </p:txBody>
      </p:sp>
      <p:sp>
        <p:nvSpPr>
          <p:cNvPr id="67" name="TextBox 18"/>
          <p:cNvSpPr/>
          <p:nvPr/>
        </p:nvSpPr>
        <p:spPr>
          <a:xfrm>
            <a:off x="594360" y="6446520"/>
            <a:ext cx="202284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6</a:t>
            </a:r>
            <a:endParaRPr lang="es-NI" sz="900" b="0" u="none" strike="noStrike">
              <a:solidFill>
                <a:srgbClr val="000000"/>
              </a:solidFill>
              <a:effectLst/>
              <a:uFillTx/>
              <a:latin typeface="Arial"/>
            </a:endParaRPr>
          </a:p>
        </p:txBody>
      </p:sp>
      <p:pic>
        <p:nvPicPr>
          <p:cNvPr id="68" name=""/>
          <p:cNvPicPr/>
          <p:nvPr/>
        </p:nvPicPr>
        <p:blipFill>
          <a:blip r:embed="rId1"/>
          <a:stretch/>
        </p:blipFill>
        <p:spPr>
          <a:xfrm>
            <a:off x="4844160" y="1440000"/>
            <a:ext cx="7254360" cy="396000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 name="Rectangle 7"/>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0" name="TextBox 19"/>
          <p:cNvSpPr/>
          <p:nvPr/>
        </p:nvSpPr>
        <p:spPr>
          <a:xfrm>
            <a:off x="548640" y="320040"/>
            <a:ext cx="634212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Surgimiento de las plataformas colaborativas</a:t>
            </a:r>
            <a:endParaRPr lang="es-NI" sz="2600" b="0" u="none" strike="noStrike">
              <a:solidFill>
                <a:srgbClr val="000000"/>
              </a:solidFill>
              <a:effectLst/>
              <a:uFillTx/>
              <a:latin typeface="Arial"/>
            </a:endParaRPr>
          </a:p>
        </p:txBody>
      </p:sp>
      <p:sp>
        <p:nvSpPr>
          <p:cNvPr id="71" name="TextBox 20"/>
          <p:cNvSpPr/>
          <p:nvPr/>
        </p:nvSpPr>
        <p:spPr>
          <a:xfrm>
            <a:off x="731520" y="1417320"/>
            <a:ext cx="6583680" cy="1552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Groupware: procesos grupales + software de soporte</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CSCW: estudio del trabajo cooperativo asistido por computadora</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Evolución hacia plataformas y ecosistemas integrados</a:t>
            </a:r>
            <a:endParaRPr lang="es-NI" sz="1900" b="0" u="none" strike="noStrike">
              <a:solidFill>
                <a:srgbClr val="000000"/>
              </a:solidFill>
              <a:effectLst/>
              <a:uFillTx/>
              <a:latin typeface="Arial"/>
            </a:endParaRPr>
          </a:p>
        </p:txBody>
      </p:sp>
      <p:sp>
        <p:nvSpPr>
          <p:cNvPr id="72" name="Oval 7"/>
          <p:cNvSpPr/>
          <p:nvPr/>
        </p:nvSpPr>
        <p:spPr>
          <a:xfrm>
            <a:off x="7772400" y="1508760"/>
            <a:ext cx="3657240" cy="3474360"/>
          </a:xfrm>
          <a:prstGeom prst="ellipse">
            <a:avLst/>
          </a:prstGeom>
          <a:solidFill>
            <a:srgbClr val="F2F6FA"/>
          </a:solidFill>
          <a:ln>
            <a:solidFill>
              <a:srgbClr val="3764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1" u="none" strike="noStrike">
                <a:solidFill>
                  <a:srgbClr val="3764A0"/>
                </a:solidFill>
                <a:effectLst/>
                <a:uFillTx/>
                <a:latin typeface="Calibri"/>
              </a:rPr>
              <a:t>1981 → 1988 → plataformas actuales.</a:t>
            </a:r>
            <a:endParaRPr lang="es-NI" sz="1800" b="0" u="none" strike="noStrike">
              <a:solidFill>
                <a:srgbClr val="000000"/>
              </a:solidFill>
              <a:effectLst/>
              <a:uFillTx/>
              <a:latin typeface="Arial"/>
            </a:endParaRPr>
          </a:p>
        </p:txBody>
      </p:sp>
      <p:sp>
        <p:nvSpPr>
          <p:cNvPr id="73" name="TextBox 21"/>
          <p:cNvSpPr/>
          <p:nvPr/>
        </p:nvSpPr>
        <p:spPr>
          <a:xfrm>
            <a:off x="594360" y="6446520"/>
            <a:ext cx="202284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7</a:t>
            </a:r>
            <a:endParaRPr lang="es-NI"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4" name="Rectangle 8"/>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5" name="TextBox 22"/>
          <p:cNvSpPr/>
          <p:nvPr/>
        </p:nvSpPr>
        <p:spPr>
          <a:xfrm>
            <a:off x="548640" y="320040"/>
            <a:ext cx="575460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BLOQUE 2 · Anatomía de una plataforma</a:t>
            </a:r>
            <a:endParaRPr lang="es-NI" sz="2600" b="0" u="none" strike="noStrike">
              <a:solidFill>
                <a:srgbClr val="000000"/>
              </a:solidFill>
              <a:effectLst/>
              <a:uFillTx/>
              <a:latin typeface="Arial"/>
            </a:endParaRPr>
          </a:p>
        </p:txBody>
      </p:sp>
      <p:sp>
        <p:nvSpPr>
          <p:cNvPr id="76" name="TextBox 23"/>
          <p:cNvSpPr/>
          <p:nvPr/>
        </p:nvSpPr>
        <p:spPr>
          <a:xfrm>
            <a:off x="914400" y="1828800"/>
            <a:ext cx="7132320" cy="1552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¿Qué convierte una herramienta digital en soporte para la colaboración?</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Personas + procesos + tecnología + información</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La colaboración es un fenómeno sociotécnico</a:t>
            </a:r>
            <a:endParaRPr lang="es-NI" sz="1900" b="0" u="none" strike="noStrike">
              <a:solidFill>
                <a:srgbClr val="000000"/>
              </a:solidFill>
              <a:effectLst/>
              <a:uFillTx/>
              <a:latin typeface="Arial"/>
            </a:endParaRPr>
          </a:p>
        </p:txBody>
      </p:sp>
      <p:sp>
        <p:nvSpPr>
          <p:cNvPr id="77" name="Oval 8"/>
          <p:cNvSpPr/>
          <p:nvPr/>
        </p:nvSpPr>
        <p:spPr>
          <a:xfrm>
            <a:off x="7560000" y="1080000"/>
            <a:ext cx="4500000" cy="3960000"/>
          </a:xfrm>
          <a:prstGeom prst="ellipse">
            <a:avLst/>
          </a:prstGeom>
          <a:solidFill>
            <a:srgbClr val="F2F6FA"/>
          </a:solidFill>
          <a:ln>
            <a:solidFill>
              <a:srgbClr val="3764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1" u="none" strike="noStrike">
                <a:solidFill>
                  <a:srgbClr val="3764A0"/>
                </a:solidFill>
                <a:effectLst/>
                <a:uFillTx/>
                <a:latin typeface="Calibri"/>
              </a:rPr>
              <a:t>Una herramienta digital se convierte en soporte para la colaboración cuando permite que varias personas interactúen con un propósito común, facilitando la comunicación, la coordinación de sus actividades y/o la cooperación en la construcción de un resultado compartido.</a:t>
            </a:r>
            <a:endParaRPr lang="es-NI" sz="1800" b="0" u="none" strike="noStrike">
              <a:solidFill>
                <a:srgbClr val="000000"/>
              </a:solidFill>
              <a:effectLst/>
              <a:uFillTx/>
              <a:latin typeface="Arial"/>
            </a:endParaRPr>
          </a:p>
        </p:txBody>
      </p:sp>
      <p:sp>
        <p:nvSpPr>
          <p:cNvPr id="78" name="TextBox 24"/>
          <p:cNvSpPr/>
          <p:nvPr/>
        </p:nvSpPr>
        <p:spPr>
          <a:xfrm>
            <a:off x="594360" y="6446520"/>
            <a:ext cx="202284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8</a:t>
            </a:r>
            <a:endParaRPr lang="es-NI"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4" presetClass="entr" fill="hold" nodeType="clickEffect" presetSubtype="16">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box(in)">
                                      <p:cBhvr additive="repl">
                                        <p:cTn id="7" dur="500"/>
                                        <p:tgtEl>
                                          <p:spTgt spid="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 name="Rectangle 9"/>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0" name="TextBox 25"/>
          <p:cNvSpPr/>
          <p:nvPr/>
        </p:nvSpPr>
        <p:spPr>
          <a:xfrm>
            <a:off x="548640" y="320040"/>
            <a:ext cx="680148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¿Qué es una plataforma de colaboración digital?</a:t>
            </a:r>
            <a:endParaRPr lang="es-NI" sz="2600" b="0" u="none" strike="noStrike">
              <a:solidFill>
                <a:srgbClr val="000000"/>
              </a:solidFill>
              <a:effectLst/>
              <a:uFillTx/>
              <a:latin typeface="Arial"/>
            </a:endParaRPr>
          </a:p>
        </p:txBody>
      </p:sp>
      <p:sp>
        <p:nvSpPr>
          <p:cNvPr id="81" name="TextBox 26"/>
          <p:cNvSpPr/>
          <p:nvPr/>
        </p:nvSpPr>
        <p:spPr>
          <a:xfrm>
            <a:off x="731520" y="1417320"/>
            <a:ext cx="6583680" cy="1263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Conjunto de componentes técnicos y procesos organizacionales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Media las interacciones entre distintos grupos de usuarios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Soporta comunicación, trabajo, información y flujos</a:t>
            </a:r>
            <a:endParaRPr lang="es-NI" sz="1900" b="0" u="none" strike="noStrike">
              <a:solidFill>
                <a:srgbClr val="000000"/>
              </a:solidFill>
              <a:effectLst/>
              <a:uFillTx/>
              <a:latin typeface="Arial"/>
            </a:endParaRPr>
          </a:p>
        </p:txBody>
      </p:sp>
      <p:sp>
        <p:nvSpPr>
          <p:cNvPr id="82" name="Oval 9"/>
          <p:cNvSpPr/>
          <p:nvPr/>
        </p:nvSpPr>
        <p:spPr>
          <a:xfrm>
            <a:off x="7772400" y="1508760"/>
            <a:ext cx="3657240" cy="3474360"/>
          </a:xfrm>
          <a:prstGeom prst="ellipse">
            <a:avLst/>
          </a:prstGeom>
          <a:solidFill>
            <a:srgbClr val="F2F6FA"/>
          </a:solidFill>
          <a:ln>
            <a:solidFill>
              <a:srgbClr val="3764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1" u="none" strike="noStrike">
                <a:solidFill>
                  <a:srgbClr val="3764A0"/>
                </a:solidFill>
                <a:effectLst/>
                <a:uFillTx/>
                <a:latin typeface="Calibri"/>
              </a:rPr>
              <a:t>usuarios ↔ plataforma ↔ recursos/procesos.</a:t>
            </a:r>
            <a:endParaRPr lang="es-NI" sz="1800" b="0" u="none" strike="noStrike">
              <a:solidFill>
                <a:srgbClr val="000000"/>
              </a:solidFill>
              <a:effectLst/>
              <a:uFillTx/>
              <a:latin typeface="Arial"/>
            </a:endParaRPr>
          </a:p>
        </p:txBody>
      </p:sp>
      <p:sp>
        <p:nvSpPr>
          <p:cNvPr id="83" name="TextBox 27"/>
          <p:cNvSpPr/>
          <p:nvPr/>
        </p:nvSpPr>
        <p:spPr>
          <a:xfrm>
            <a:off x="594360" y="6446520"/>
            <a:ext cx="202284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9</a:t>
            </a:r>
            <a:endParaRPr lang="es-NI"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4" name="Rectangle 10"/>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5" name="TextBox 28"/>
          <p:cNvSpPr/>
          <p:nvPr/>
        </p:nvSpPr>
        <p:spPr>
          <a:xfrm>
            <a:off x="548640" y="320040"/>
            <a:ext cx="650268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El propósito: hacer posible el trabajo conjunto</a:t>
            </a:r>
            <a:endParaRPr lang="es-NI" sz="2600" b="0" u="none" strike="noStrike">
              <a:solidFill>
                <a:srgbClr val="000000"/>
              </a:solidFill>
              <a:effectLst/>
              <a:uFillTx/>
              <a:latin typeface="Arial"/>
            </a:endParaRPr>
          </a:p>
        </p:txBody>
      </p:sp>
      <p:sp>
        <p:nvSpPr>
          <p:cNvPr id="86" name="TextBox 29"/>
          <p:cNvSpPr/>
          <p:nvPr/>
        </p:nvSpPr>
        <p:spPr>
          <a:xfrm>
            <a:off x="720000" y="1080000"/>
            <a:ext cx="6583680" cy="1263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Compartir información y conocimiento</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Coordinar personas, actividades y recursos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Construir resultados sobre espacios y objetos compartidos</a:t>
            </a:r>
            <a:endParaRPr lang="es-NI" sz="1900" b="0" u="none" strike="noStrike">
              <a:solidFill>
                <a:srgbClr val="000000"/>
              </a:solidFill>
              <a:effectLst/>
              <a:uFillTx/>
              <a:latin typeface="Arial"/>
            </a:endParaRPr>
          </a:p>
        </p:txBody>
      </p:sp>
      <p:sp>
        <p:nvSpPr>
          <p:cNvPr id="87" name="Oval 10"/>
          <p:cNvSpPr/>
          <p:nvPr/>
        </p:nvSpPr>
        <p:spPr>
          <a:xfrm>
            <a:off x="7772400" y="1508760"/>
            <a:ext cx="3657240" cy="3474360"/>
          </a:xfrm>
          <a:prstGeom prst="ellipse">
            <a:avLst/>
          </a:prstGeom>
          <a:solidFill>
            <a:srgbClr val="F2F6FA"/>
          </a:solidFill>
          <a:ln>
            <a:solidFill>
              <a:srgbClr val="3764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1" u="none" strike="noStrike">
                <a:solidFill>
                  <a:srgbClr val="3764A0"/>
                </a:solidFill>
                <a:effectLst/>
                <a:uFillTx/>
                <a:latin typeface="Calibri"/>
              </a:rPr>
              <a:t>triángulo Personas–Procesos–Resultados.</a:t>
            </a:r>
            <a:endParaRPr lang="es-NI" sz="1800" b="0" u="none" strike="noStrike">
              <a:solidFill>
                <a:srgbClr val="000000"/>
              </a:solidFill>
              <a:effectLst/>
              <a:uFillTx/>
              <a:latin typeface="Arial"/>
            </a:endParaRPr>
          </a:p>
        </p:txBody>
      </p:sp>
      <p:sp>
        <p:nvSpPr>
          <p:cNvPr id="88" name="TextBox 30"/>
          <p:cNvSpPr/>
          <p:nvPr/>
        </p:nvSpPr>
        <p:spPr>
          <a:xfrm>
            <a:off x="594360" y="6446520"/>
            <a:ext cx="208080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10</a:t>
            </a:r>
            <a:endParaRPr lang="es-NI" sz="900" b="0" u="none" strike="noStrike">
              <a:solidFill>
                <a:srgbClr val="000000"/>
              </a:solidFill>
              <a:effectLst/>
              <a:uFillTx/>
              <a:latin typeface="Arial"/>
            </a:endParaRPr>
          </a:p>
        </p:txBody>
      </p:sp>
      <p:pic>
        <p:nvPicPr>
          <p:cNvPr id="89" name=""/>
          <p:cNvPicPr/>
          <p:nvPr/>
        </p:nvPicPr>
        <p:blipFill>
          <a:blip r:embed="rId1"/>
          <a:stretch/>
        </p:blipFill>
        <p:spPr>
          <a:xfrm>
            <a:off x="518040" y="2930760"/>
            <a:ext cx="6501960" cy="354924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0" name="Rectangle 11"/>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1" name="TextBox 31"/>
          <p:cNvSpPr/>
          <p:nvPr/>
        </p:nvSpPr>
        <p:spPr>
          <a:xfrm>
            <a:off x="548640" y="320040"/>
            <a:ext cx="565056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Modelo 3C: el núcleo de la colaboración</a:t>
            </a:r>
            <a:endParaRPr lang="es-NI" sz="2600" b="0" u="none" strike="noStrike">
              <a:solidFill>
                <a:srgbClr val="000000"/>
              </a:solidFill>
              <a:effectLst/>
              <a:uFillTx/>
              <a:latin typeface="Arial"/>
            </a:endParaRPr>
          </a:p>
        </p:txBody>
      </p:sp>
      <p:sp>
        <p:nvSpPr>
          <p:cNvPr id="92" name="TextBox 32"/>
          <p:cNvSpPr/>
          <p:nvPr/>
        </p:nvSpPr>
        <p:spPr>
          <a:xfrm>
            <a:off x="540000" y="1109160"/>
            <a:ext cx="3588480" cy="2130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Comunicación: intercambio de información</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Coordinación: organización de actividades y recursos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Cooperación: producción sobre objetos compartidos</a:t>
            </a:r>
            <a:endParaRPr lang="es-NI" sz="1900" b="0" u="none" strike="noStrike">
              <a:solidFill>
                <a:srgbClr val="000000"/>
              </a:solidFill>
              <a:effectLst/>
              <a:uFillTx/>
              <a:latin typeface="Arial"/>
            </a:endParaRPr>
          </a:p>
        </p:txBody>
      </p:sp>
      <p:sp>
        <p:nvSpPr>
          <p:cNvPr id="93" name="TextBox 33"/>
          <p:cNvSpPr/>
          <p:nvPr/>
        </p:nvSpPr>
        <p:spPr>
          <a:xfrm>
            <a:off x="594360" y="6446520"/>
            <a:ext cx="208080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11</a:t>
            </a:r>
            <a:endParaRPr lang="es-NI" sz="900" b="0" u="none" strike="noStrike">
              <a:solidFill>
                <a:srgbClr val="000000"/>
              </a:solidFill>
              <a:effectLst/>
              <a:uFillTx/>
              <a:latin typeface="Arial"/>
            </a:endParaRPr>
          </a:p>
        </p:txBody>
      </p:sp>
      <p:pic>
        <p:nvPicPr>
          <p:cNvPr id="94" name=""/>
          <p:cNvPicPr/>
          <p:nvPr/>
        </p:nvPicPr>
        <p:blipFill>
          <a:blip r:embed="rId1"/>
          <a:stretch/>
        </p:blipFill>
        <p:spPr>
          <a:xfrm>
            <a:off x="3948480" y="1980000"/>
            <a:ext cx="8243640" cy="450000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 name="Rectangle 12"/>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6" name="TextBox 34"/>
          <p:cNvSpPr/>
          <p:nvPr/>
        </p:nvSpPr>
        <p:spPr>
          <a:xfrm>
            <a:off x="548640" y="320040"/>
            <a:ext cx="211320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Comunicación</a:t>
            </a:r>
            <a:endParaRPr lang="es-NI" sz="2600" b="0" u="none" strike="noStrike">
              <a:solidFill>
                <a:srgbClr val="000000"/>
              </a:solidFill>
              <a:effectLst/>
              <a:uFillTx/>
              <a:latin typeface="Arial"/>
            </a:endParaRPr>
          </a:p>
        </p:txBody>
      </p:sp>
      <p:sp>
        <p:nvSpPr>
          <p:cNvPr id="97" name="TextBox 35"/>
          <p:cNvSpPr/>
          <p:nvPr/>
        </p:nvSpPr>
        <p:spPr>
          <a:xfrm>
            <a:off x="731520" y="1417320"/>
            <a:ext cx="6583680" cy="1263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Mensajes, conversaciones y retroalimentación</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Interacción síncrona o asíncrona</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Reduce distancia informativa entre participantes</a:t>
            </a:r>
            <a:endParaRPr lang="es-NI" sz="1900" b="0" u="none" strike="noStrike">
              <a:solidFill>
                <a:srgbClr val="000000"/>
              </a:solidFill>
              <a:effectLst/>
              <a:uFillTx/>
              <a:latin typeface="Arial"/>
            </a:endParaRPr>
          </a:p>
        </p:txBody>
      </p:sp>
      <p:sp>
        <p:nvSpPr>
          <p:cNvPr id="98" name="Oval 12"/>
          <p:cNvSpPr/>
          <p:nvPr/>
        </p:nvSpPr>
        <p:spPr>
          <a:xfrm>
            <a:off x="7772400" y="1508760"/>
            <a:ext cx="3657240" cy="3474360"/>
          </a:xfrm>
          <a:prstGeom prst="ellipse">
            <a:avLst/>
          </a:prstGeom>
          <a:solidFill>
            <a:srgbClr val="F2F6FA"/>
          </a:solidFill>
          <a:ln>
            <a:solidFill>
              <a:srgbClr val="3764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1" u="none" strike="noStrike">
                <a:solidFill>
                  <a:srgbClr val="3764A0"/>
                </a:solidFill>
                <a:effectLst/>
                <a:uFillTx/>
                <a:latin typeface="Calibri"/>
              </a:rPr>
              <a:t>chat ↔ videollamada ↔ foro.</a:t>
            </a:r>
            <a:endParaRPr lang="es-NI" sz="1800" b="0" u="none" strike="noStrike">
              <a:solidFill>
                <a:srgbClr val="000000"/>
              </a:solidFill>
              <a:effectLst/>
              <a:uFillTx/>
              <a:latin typeface="Arial"/>
            </a:endParaRPr>
          </a:p>
        </p:txBody>
      </p:sp>
      <p:sp>
        <p:nvSpPr>
          <p:cNvPr id="99" name="TextBox 36"/>
          <p:cNvSpPr/>
          <p:nvPr/>
        </p:nvSpPr>
        <p:spPr>
          <a:xfrm>
            <a:off x="594360" y="6446520"/>
            <a:ext cx="208080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12</a:t>
            </a:r>
            <a:endParaRPr lang="es-NI"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0" name="Rectangle 13"/>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1" name="TextBox 37"/>
          <p:cNvSpPr/>
          <p:nvPr/>
        </p:nvSpPr>
        <p:spPr>
          <a:xfrm>
            <a:off x="548640" y="320040"/>
            <a:ext cx="199908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Coordinación</a:t>
            </a:r>
            <a:endParaRPr lang="es-NI" sz="2600" b="0" u="none" strike="noStrike">
              <a:solidFill>
                <a:srgbClr val="000000"/>
              </a:solidFill>
              <a:effectLst/>
              <a:uFillTx/>
              <a:latin typeface="Arial"/>
            </a:endParaRPr>
          </a:p>
        </p:txBody>
      </p:sp>
      <p:sp>
        <p:nvSpPr>
          <p:cNvPr id="102" name="TextBox 38"/>
          <p:cNvSpPr/>
          <p:nvPr/>
        </p:nvSpPr>
        <p:spPr>
          <a:xfrm>
            <a:off x="256320" y="1080000"/>
            <a:ext cx="6583680" cy="1263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Asignación de responsables y tareas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Fechas, prioridades, estados y recursos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Organiza la interdependencia del trabajo</a:t>
            </a:r>
            <a:endParaRPr lang="es-NI" sz="1900" b="0" u="none" strike="noStrike">
              <a:solidFill>
                <a:srgbClr val="000000"/>
              </a:solidFill>
              <a:effectLst/>
              <a:uFillTx/>
              <a:latin typeface="Arial"/>
            </a:endParaRPr>
          </a:p>
        </p:txBody>
      </p:sp>
      <p:sp>
        <p:nvSpPr>
          <p:cNvPr id="103" name="Oval 13"/>
          <p:cNvSpPr/>
          <p:nvPr/>
        </p:nvSpPr>
        <p:spPr>
          <a:xfrm>
            <a:off x="9270360" y="720000"/>
            <a:ext cx="2429640" cy="2451240"/>
          </a:xfrm>
          <a:prstGeom prst="ellipse">
            <a:avLst/>
          </a:prstGeom>
          <a:solidFill>
            <a:srgbClr val="F2F6FA"/>
          </a:solidFill>
          <a:ln>
            <a:solidFill>
              <a:srgbClr val="3764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1" u="none" strike="noStrike">
                <a:solidFill>
                  <a:srgbClr val="3764A0"/>
                </a:solidFill>
                <a:effectLst/>
                <a:uFillTx/>
                <a:latin typeface="Calibri"/>
              </a:rPr>
              <a:t>tablero Kanban simplificado.</a:t>
            </a:r>
            <a:endParaRPr lang="es-NI" sz="1800" b="0" u="none" strike="noStrike">
              <a:solidFill>
                <a:srgbClr val="000000"/>
              </a:solidFill>
              <a:effectLst/>
              <a:uFillTx/>
              <a:latin typeface="Arial"/>
            </a:endParaRPr>
          </a:p>
        </p:txBody>
      </p:sp>
      <p:sp>
        <p:nvSpPr>
          <p:cNvPr id="104" name="TextBox 39"/>
          <p:cNvSpPr/>
          <p:nvPr/>
        </p:nvSpPr>
        <p:spPr>
          <a:xfrm>
            <a:off x="594360" y="6446520"/>
            <a:ext cx="208080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13</a:t>
            </a:r>
            <a:endParaRPr lang="es-NI" sz="900" b="0" u="none" strike="noStrike">
              <a:solidFill>
                <a:srgbClr val="000000"/>
              </a:solidFill>
              <a:effectLst/>
              <a:uFillTx/>
              <a:latin typeface="Arial"/>
            </a:endParaRPr>
          </a:p>
        </p:txBody>
      </p:sp>
      <p:pic>
        <p:nvPicPr>
          <p:cNvPr id="105" name=""/>
          <p:cNvPicPr/>
          <p:nvPr/>
        </p:nvPicPr>
        <p:blipFill>
          <a:blip r:embed="rId1"/>
          <a:stretch/>
        </p:blipFill>
        <p:spPr>
          <a:xfrm>
            <a:off x="1404720" y="2520000"/>
            <a:ext cx="7947000" cy="433800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6" name="Rectangle 14"/>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7" name="TextBox 40"/>
          <p:cNvSpPr/>
          <p:nvPr/>
        </p:nvSpPr>
        <p:spPr>
          <a:xfrm>
            <a:off x="548640" y="320040"/>
            <a:ext cx="190368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Cooperación</a:t>
            </a:r>
            <a:endParaRPr lang="es-NI" sz="2600" b="0" u="none" strike="noStrike">
              <a:solidFill>
                <a:srgbClr val="000000"/>
              </a:solidFill>
              <a:effectLst/>
              <a:uFillTx/>
              <a:latin typeface="Arial"/>
            </a:endParaRPr>
          </a:p>
        </p:txBody>
      </p:sp>
      <p:sp>
        <p:nvSpPr>
          <p:cNvPr id="108" name="TextBox 41"/>
          <p:cNvSpPr/>
          <p:nvPr/>
        </p:nvSpPr>
        <p:spPr>
          <a:xfrm>
            <a:off x="371520" y="1800000"/>
            <a:ext cx="3948480" cy="1841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Trabajo sobre recursos u objetos compartidos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Construcción conjunta de productos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Requiere acuerdos sobre acceso y contribuciones</a:t>
            </a:r>
            <a:endParaRPr lang="es-NI" sz="1900" b="0" u="none" strike="noStrike">
              <a:solidFill>
                <a:srgbClr val="000000"/>
              </a:solidFill>
              <a:effectLst/>
              <a:uFillTx/>
              <a:latin typeface="Arial"/>
            </a:endParaRPr>
          </a:p>
        </p:txBody>
      </p:sp>
      <p:sp>
        <p:nvSpPr>
          <p:cNvPr id="109" name="TextBox 42"/>
          <p:cNvSpPr/>
          <p:nvPr/>
        </p:nvSpPr>
        <p:spPr>
          <a:xfrm>
            <a:off x="594360" y="6446520"/>
            <a:ext cx="208080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14</a:t>
            </a:r>
            <a:endParaRPr lang="es-NI" sz="900" b="0" u="none" strike="noStrike">
              <a:solidFill>
                <a:srgbClr val="000000"/>
              </a:solidFill>
              <a:effectLst/>
              <a:uFillTx/>
              <a:latin typeface="Arial"/>
            </a:endParaRPr>
          </a:p>
        </p:txBody>
      </p:sp>
      <p:pic>
        <p:nvPicPr>
          <p:cNvPr id="110" name=""/>
          <p:cNvPicPr/>
          <p:nvPr/>
        </p:nvPicPr>
        <p:blipFill>
          <a:blip r:embed="rId1"/>
          <a:stretch/>
        </p:blipFill>
        <p:spPr>
          <a:xfrm>
            <a:off x="4500000" y="1440000"/>
            <a:ext cx="7560000" cy="412668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1" name="Rectangle 15"/>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2" name="TextBox 43"/>
          <p:cNvSpPr/>
          <p:nvPr/>
        </p:nvSpPr>
        <p:spPr>
          <a:xfrm>
            <a:off x="548640" y="320040"/>
            <a:ext cx="557820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Tipos de interacción y capacidades core</a:t>
            </a:r>
            <a:endParaRPr lang="es-NI" sz="2600" b="0" u="none" strike="noStrike">
              <a:solidFill>
                <a:srgbClr val="000000"/>
              </a:solidFill>
              <a:effectLst/>
              <a:uFillTx/>
              <a:latin typeface="Arial"/>
            </a:endParaRPr>
          </a:p>
        </p:txBody>
      </p:sp>
      <p:sp>
        <p:nvSpPr>
          <p:cNvPr id="113" name="TextBox 44"/>
          <p:cNvSpPr/>
          <p:nvPr/>
        </p:nvSpPr>
        <p:spPr>
          <a:xfrm>
            <a:off x="731520" y="1417320"/>
            <a:ext cx="6583680" cy="3303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Síncrona ↔ asíncrona</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Uno a uno, uno a muchos y muchos a muchos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Mensajería, archivos, tareas, reuniones e integración</a:t>
            </a:r>
            <a:endParaRPr lang="es-NI" sz="1900" b="0" u="none" strike="noStrike">
              <a:solidFill>
                <a:srgbClr val="000000"/>
              </a:solidFill>
              <a:effectLst/>
              <a:uFillTx/>
              <a:latin typeface="Arial"/>
            </a:endParaRPr>
          </a:p>
          <a:p>
            <a:pPr defTabSz="457200">
              <a:lnSpc>
                <a:spcPct val="100000"/>
              </a:lnSpc>
              <a:spcAft>
                <a:spcPts val="1199"/>
              </a:spcAft>
            </a:pP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Las capacidades esenciales de una plataforma son las funciones que permiten realizar su propósito principal. En una plataforma de colaboración, esas capacidades deben facilitar que las personas se comuniquen, coordinen sus actividades y cooperen para alcanzar un objetivo común.</a:t>
            </a:r>
            <a:endParaRPr lang="es-NI" sz="1900" b="0" u="none" strike="noStrike">
              <a:solidFill>
                <a:srgbClr val="000000"/>
              </a:solidFill>
              <a:effectLst/>
              <a:uFillTx/>
              <a:latin typeface="Arial"/>
            </a:endParaRPr>
          </a:p>
        </p:txBody>
      </p:sp>
      <p:sp>
        <p:nvSpPr>
          <p:cNvPr id="114" name="TextBox 45"/>
          <p:cNvSpPr/>
          <p:nvPr/>
        </p:nvSpPr>
        <p:spPr>
          <a:xfrm>
            <a:off x="594360" y="6446520"/>
            <a:ext cx="208080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15</a:t>
            </a:r>
            <a:endParaRPr lang="es-NI"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5" name="Rectangle 16"/>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6" name="TextBox 46"/>
          <p:cNvSpPr/>
          <p:nvPr/>
        </p:nvSpPr>
        <p:spPr>
          <a:xfrm>
            <a:off x="548640" y="320040"/>
            <a:ext cx="745164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Arquitectura: ¿dónde y cómo ocurre la colaboración?</a:t>
            </a:r>
            <a:endParaRPr lang="es-NI" sz="2600" b="0" u="none" strike="noStrike">
              <a:solidFill>
                <a:srgbClr val="000000"/>
              </a:solidFill>
              <a:effectLst/>
              <a:uFillTx/>
              <a:latin typeface="Arial"/>
            </a:endParaRPr>
          </a:p>
        </p:txBody>
      </p:sp>
      <p:sp>
        <p:nvSpPr>
          <p:cNvPr id="117" name="TextBox 47"/>
          <p:cNvSpPr/>
          <p:nvPr/>
        </p:nvSpPr>
        <p:spPr>
          <a:xfrm>
            <a:off x="731520" y="2549160"/>
            <a:ext cx="3408480" cy="2130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Cliente-servidor: control y centralización</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Nube: disponibilidad, escala y servicios compartidos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Arquitecturas híbridas: integración según necesidad</a:t>
            </a:r>
            <a:endParaRPr lang="es-NI" sz="1900" b="0" u="none" strike="noStrike">
              <a:solidFill>
                <a:srgbClr val="000000"/>
              </a:solidFill>
              <a:effectLst/>
              <a:uFillTx/>
              <a:latin typeface="Arial"/>
            </a:endParaRPr>
          </a:p>
        </p:txBody>
      </p:sp>
      <p:sp>
        <p:nvSpPr>
          <p:cNvPr id="118" name="TextBox 48"/>
          <p:cNvSpPr/>
          <p:nvPr/>
        </p:nvSpPr>
        <p:spPr>
          <a:xfrm>
            <a:off x="594360" y="6446520"/>
            <a:ext cx="208080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16</a:t>
            </a:r>
            <a:endParaRPr lang="es-NI" sz="900" b="0" u="none" strike="noStrike">
              <a:solidFill>
                <a:srgbClr val="000000"/>
              </a:solidFill>
              <a:effectLst/>
              <a:uFillTx/>
              <a:latin typeface="Arial"/>
            </a:endParaRPr>
          </a:p>
        </p:txBody>
      </p:sp>
      <p:pic>
        <p:nvPicPr>
          <p:cNvPr id="119" name=""/>
          <p:cNvPicPr/>
          <p:nvPr/>
        </p:nvPicPr>
        <p:blipFill>
          <a:blip r:embed="rId1"/>
          <a:stretch/>
        </p:blipFill>
        <p:spPr>
          <a:xfrm>
            <a:off x="4937760" y="1980000"/>
            <a:ext cx="7254360" cy="396000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0" name="Rectangle 17"/>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1" name="TextBox 49"/>
          <p:cNvSpPr/>
          <p:nvPr/>
        </p:nvSpPr>
        <p:spPr>
          <a:xfrm>
            <a:off x="548640" y="320040"/>
            <a:ext cx="778572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Capacidades avanzadas: integración e interoperabilidad</a:t>
            </a:r>
            <a:endParaRPr lang="es-NI" sz="2600" b="0" u="none" strike="noStrike">
              <a:solidFill>
                <a:srgbClr val="000000"/>
              </a:solidFill>
              <a:effectLst/>
              <a:uFillTx/>
              <a:latin typeface="Arial"/>
            </a:endParaRPr>
          </a:p>
        </p:txBody>
      </p:sp>
      <p:sp>
        <p:nvSpPr>
          <p:cNvPr id="122" name="TextBox 50"/>
          <p:cNvSpPr/>
          <p:nvPr/>
        </p:nvSpPr>
        <p:spPr>
          <a:xfrm>
            <a:off x="731520" y="1417320"/>
            <a:ext cx="6583680" cy="1263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Conectar personas, aplicaciones y datos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Integrar servicios en ecosistemas digitales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Escalar sin perder coordinación y trazabilidad</a:t>
            </a:r>
            <a:endParaRPr lang="es-NI" sz="1900" b="0" u="none" strike="noStrike">
              <a:solidFill>
                <a:srgbClr val="000000"/>
              </a:solidFill>
              <a:effectLst/>
              <a:uFillTx/>
              <a:latin typeface="Arial"/>
            </a:endParaRPr>
          </a:p>
        </p:txBody>
      </p:sp>
      <p:sp>
        <p:nvSpPr>
          <p:cNvPr id="123" name="Oval 17"/>
          <p:cNvSpPr/>
          <p:nvPr/>
        </p:nvSpPr>
        <p:spPr>
          <a:xfrm>
            <a:off x="7772400" y="1508760"/>
            <a:ext cx="3657240" cy="3474360"/>
          </a:xfrm>
          <a:prstGeom prst="ellipse">
            <a:avLst/>
          </a:prstGeom>
          <a:solidFill>
            <a:srgbClr val="F2F6FA"/>
          </a:solidFill>
          <a:ln>
            <a:solidFill>
              <a:srgbClr val="3764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1" u="none" strike="noStrike">
                <a:solidFill>
                  <a:srgbClr val="3764A0"/>
                </a:solidFill>
                <a:effectLst/>
                <a:uFillTx/>
                <a:latin typeface="Calibri"/>
              </a:rPr>
              <a:t>nodos de aplicaciones conectadas.</a:t>
            </a:r>
            <a:endParaRPr lang="es-NI" sz="1800" b="0" u="none" strike="noStrike">
              <a:solidFill>
                <a:srgbClr val="000000"/>
              </a:solidFill>
              <a:effectLst/>
              <a:uFillTx/>
              <a:latin typeface="Arial"/>
            </a:endParaRPr>
          </a:p>
        </p:txBody>
      </p:sp>
      <p:sp>
        <p:nvSpPr>
          <p:cNvPr id="124" name="TextBox 51"/>
          <p:cNvSpPr/>
          <p:nvPr/>
        </p:nvSpPr>
        <p:spPr>
          <a:xfrm>
            <a:off x="594360" y="6446520"/>
            <a:ext cx="208080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17</a:t>
            </a:r>
            <a:endParaRPr lang="es-NI"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5" name="Rectangle 18"/>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6" name="TextBox 52"/>
          <p:cNvSpPr/>
          <p:nvPr/>
        </p:nvSpPr>
        <p:spPr>
          <a:xfrm>
            <a:off x="548640" y="320040"/>
            <a:ext cx="656964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Seguridad: colaborar también implica proteger</a:t>
            </a:r>
            <a:endParaRPr lang="es-NI" sz="2600" b="0" u="none" strike="noStrike">
              <a:solidFill>
                <a:srgbClr val="000000"/>
              </a:solidFill>
              <a:effectLst/>
              <a:uFillTx/>
              <a:latin typeface="Arial"/>
            </a:endParaRPr>
          </a:p>
        </p:txBody>
      </p:sp>
      <p:sp>
        <p:nvSpPr>
          <p:cNvPr id="127" name="TextBox 53"/>
          <p:cNvSpPr/>
          <p:nvPr/>
        </p:nvSpPr>
        <p:spPr>
          <a:xfrm>
            <a:off x="191520" y="2160000"/>
            <a:ext cx="3048480" cy="2130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Identidad y control de acceso</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Privacidad y protección de información</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Confianza entre personas, sistemas y organizaciones</a:t>
            </a:r>
            <a:endParaRPr lang="es-NI" sz="1900" b="0" u="none" strike="noStrike">
              <a:solidFill>
                <a:srgbClr val="000000"/>
              </a:solidFill>
              <a:effectLst/>
              <a:uFillTx/>
              <a:latin typeface="Arial"/>
            </a:endParaRPr>
          </a:p>
        </p:txBody>
      </p:sp>
      <p:sp>
        <p:nvSpPr>
          <p:cNvPr id="128" name="TextBox 54"/>
          <p:cNvSpPr/>
          <p:nvPr/>
        </p:nvSpPr>
        <p:spPr>
          <a:xfrm>
            <a:off x="594360" y="6446520"/>
            <a:ext cx="208080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18</a:t>
            </a:r>
            <a:endParaRPr lang="es-NI" sz="900" b="0" u="none" strike="noStrike">
              <a:solidFill>
                <a:srgbClr val="000000"/>
              </a:solidFill>
              <a:effectLst/>
              <a:uFillTx/>
              <a:latin typeface="Arial"/>
            </a:endParaRPr>
          </a:p>
        </p:txBody>
      </p:sp>
      <p:pic>
        <p:nvPicPr>
          <p:cNvPr id="129" name=""/>
          <p:cNvPicPr/>
          <p:nvPr/>
        </p:nvPicPr>
        <p:blipFill>
          <a:blip r:embed="rId1"/>
          <a:stretch/>
        </p:blipFill>
        <p:spPr>
          <a:xfrm>
            <a:off x="3420000" y="1441080"/>
            <a:ext cx="8640000" cy="4716360"/>
          </a:xfrm>
          <a:prstGeom prst="rect">
            <a:avLst/>
          </a:prstGeom>
          <a:noFill/>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0" name="Rectangle 19"/>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1" name="TextBox 55"/>
          <p:cNvSpPr/>
          <p:nvPr/>
        </p:nvSpPr>
        <p:spPr>
          <a:xfrm>
            <a:off x="548640" y="320040"/>
            <a:ext cx="309168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Gobernanza de datos</a:t>
            </a:r>
            <a:endParaRPr lang="es-NI" sz="2600" b="0" u="none" strike="noStrike">
              <a:solidFill>
                <a:srgbClr val="000000"/>
              </a:solidFill>
              <a:effectLst/>
              <a:uFillTx/>
              <a:latin typeface="Arial"/>
            </a:endParaRPr>
          </a:p>
        </p:txBody>
      </p:sp>
      <p:sp>
        <p:nvSpPr>
          <p:cNvPr id="132" name="TextBox 56"/>
          <p:cNvSpPr/>
          <p:nvPr/>
        </p:nvSpPr>
        <p:spPr>
          <a:xfrm>
            <a:off x="731520" y="1417320"/>
            <a:ext cx="6583680" cy="1263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¿Qué datos se comparten y con quién?</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Reglas sobre propiedad, acceso y uso</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Transparencia y responsabilidad en el ecosistema</a:t>
            </a:r>
            <a:endParaRPr lang="es-NI" sz="1900" b="0" u="none" strike="noStrike">
              <a:solidFill>
                <a:srgbClr val="000000"/>
              </a:solidFill>
              <a:effectLst/>
              <a:uFillTx/>
              <a:latin typeface="Arial"/>
            </a:endParaRPr>
          </a:p>
        </p:txBody>
      </p:sp>
      <p:sp>
        <p:nvSpPr>
          <p:cNvPr id="133" name="Oval 19"/>
          <p:cNvSpPr/>
          <p:nvPr/>
        </p:nvSpPr>
        <p:spPr>
          <a:xfrm>
            <a:off x="7200000" y="900000"/>
            <a:ext cx="4229640" cy="4083120"/>
          </a:xfrm>
          <a:prstGeom prst="ellipse">
            <a:avLst/>
          </a:prstGeom>
          <a:solidFill>
            <a:srgbClr val="F2F6FA"/>
          </a:solidFill>
          <a:ln>
            <a:solidFill>
              <a:srgbClr val="3764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1" u="none" strike="noStrike">
                <a:solidFill>
                  <a:srgbClr val="3764A0"/>
                </a:solidFill>
                <a:effectLst/>
                <a:uFillTx/>
                <a:latin typeface="Calibri"/>
              </a:rPr>
              <a:t>datos → reglas → participantes: reglas claras sobre cómo se recopilan, utilizan, comparten, protegen y administran los datos, y que debe quedar claro quién es responsable de cada decisión y acción relacionada con ellos.</a:t>
            </a:r>
            <a:endParaRPr lang="es-NI" sz="1800" b="0" u="none" strike="noStrike">
              <a:solidFill>
                <a:srgbClr val="000000"/>
              </a:solidFill>
              <a:effectLst/>
              <a:uFillTx/>
              <a:latin typeface="Arial"/>
            </a:endParaRPr>
          </a:p>
        </p:txBody>
      </p:sp>
      <p:sp>
        <p:nvSpPr>
          <p:cNvPr id="134" name="TextBox 57"/>
          <p:cNvSpPr/>
          <p:nvPr/>
        </p:nvSpPr>
        <p:spPr>
          <a:xfrm>
            <a:off x="594360" y="6446520"/>
            <a:ext cx="208080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19</a:t>
            </a:r>
            <a:endParaRPr lang="es-NI"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5" name="Rectangle 20"/>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6" name="TextBox 58"/>
          <p:cNvSpPr/>
          <p:nvPr/>
        </p:nvSpPr>
        <p:spPr>
          <a:xfrm>
            <a:off x="548640" y="320040"/>
            <a:ext cx="623844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Impacto organizacional y gestión del cambio</a:t>
            </a:r>
            <a:endParaRPr lang="es-NI" sz="2600" b="0" u="none" strike="noStrike">
              <a:solidFill>
                <a:srgbClr val="000000"/>
              </a:solidFill>
              <a:effectLst/>
              <a:uFillTx/>
              <a:latin typeface="Arial"/>
            </a:endParaRPr>
          </a:p>
        </p:txBody>
      </p:sp>
      <p:sp>
        <p:nvSpPr>
          <p:cNvPr id="137" name="TextBox 59"/>
          <p:cNvSpPr/>
          <p:nvPr/>
        </p:nvSpPr>
        <p:spPr>
          <a:xfrm>
            <a:off x="731520" y="1417320"/>
            <a:ext cx="6583680" cy="1263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Una nueva plataforma modifica prácticas de trabajo</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La redundancia puede generar resistencia</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La adopción exige propósito, formación y acompañamiento</a:t>
            </a:r>
            <a:endParaRPr lang="es-NI" sz="1900" b="0" u="none" strike="noStrike">
              <a:solidFill>
                <a:srgbClr val="000000"/>
              </a:solidFill>
              <a:effectLst/>
              <a:uFillTx/>
              <a:latin typeface="Arial"/>
            </a:endParaRPr>
          </a:p>
        </p:txBody>
      </p:sp>
      <p:sp>
        <p:nvSpPr>
          <p:cNvPr id="138" name="Oval 20"/>
          <p:cNvSpPr/>
          <p:nvPr/>
        </p:nvSpPr>
        <p:spPr>
          <a:xfrm>
            <a:off x="7772400" y="1508760"/>
            <a:ext cx="3657240" cy="3474360"/>
          </a:xfrm>
          <a:prstGeom prst="ellipse">
            <a:avLst/>
          </a:prstGeom>
          <a:solidFill>
            <a:srgbClr val="F2F6FA"/>
          </a:solidFill>
          <a:ln>
            <a:solidFill>
              <a:srgbClr val="3764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1" u="none" strike="noStrike">
                <a:solidFill>
                  <a:srgbClr val="3764A0"/>
                </a:solidFill>
                <a:effectLst/>
                <a:uFillTx/>
                <a:latin typeface="Calibri"/>
              </a:rPr>
              <a:t>Antes → Cambio → Adopción.</a:t>
            </a:r>
            <a:endParaRPr lang="es-NI" sz="1800" b="0" u="none" strike="noStrike">
              <a:solidFill>
                <a:srgbClr val="000000"/>
              </a:solidFill>
              <a:effectLst/>
              <a:uFillTx/>
              <a:latin typeface="Arial"/>
            </a:endParaRPr>
          </a:p>
        </p:txBody>
      </p:sp>
      <p:sp>
        <p:nvSpPr>
          <p:cNvPr id="139" name="TextBox 60"/>
          <p:cNvSpPr/>
          <p:nvPr/>
        </p:nvSpPr>
        <p:spPr>
          <a:xfrm>
            <a:off x="594360" y="6446520"/>
            <a:ext cx="208080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20</a:t>
            </a:r>
            <a:endParaRPr lang="es-NI" sz="900" b="0" u="none" strike="noStrike">
              <a:solidFill>
                <a:srgbClr val="000000"/>
              </a:solidFill>
              <a:effectLst/>
              <a:uFillTx/>
              <a:latin typeface="Arial"/>
            </a:endParaRPr>
          </a:p>
        </p:txBody>
      </p:sp>
      <p:pic>
        <p:nvPicPr>
          <p:cNvPr id="140" name=""/>
          <p:cNvPicPr/>
          <p:nvPr/>
        </p:nvPicPr>
        <p:blipFill>
          <a:blip r:embed="rId1"/>
          <a:stretch/>
        </p:blipFill>
        <p:spPr>
          <a:xfrm>
            <a:off x="878040" y="2930760"/>
            <a:ext cx="6501960" cy="3549240"/>
          </a:xfrm>
          <a:prstGeom prst="rect">
            <a:avLst/>
          </a:prstGeom>
          <a:noFill/>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1" name="Rectangle 21"/>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2" name="TextBox 61"/>
          <p:cNvSpPr/>
          <p:nvPr/>
        </p:nvSpPr>
        <p:spPr>
          <a:xfrm>
            <a:off x="548640" y="320040"/>
            <a:ext cx="496188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BLOQUE 3 · Impacto y casos de uso</a:t>
            </a:r>
            <a:endParaRPr lang="es-NI" sz="2600" b="0" u="none" strike="noStrike">
              <a:solidFill>
                <a:srgbClr val="000000"/>
              </a:solidFill>
              <a:effectLst/>
              <a:uFillTx/>
              <a:latin typeface="Arial"/>
            </a:endParaRPr>
          </a:p>
        </p:txBody>
      </p:sp>
      <p:sp>
        <p:nvSpPr>
          <p:cNvPr id="143" name="TextBox 62"/>
          <p:cNvSpPr/>
          <p:nvPr/>
        </p:nvSpPr>
        <p:spPr>
          <a:xfrm>
            <a:off x="914400" y="1828800"/>
            <a:ext cx="7132320" cy="1263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¿Qué valor real generan las plataformas?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Productividad • Flexibilidad • Comunicación</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El beneficio depende del contexto y de su uso</a:t>
            </a:r>
            <a:endParaRPr lang="es-NI" sz="1900" b="0" u="none" strike="noStrike">
              <a:solidFill>
                <a:srgbClr val="000000"/>
              </a:solidFill>
              <a:effectLst/>
              <a:uFillTx/>
              <a:latin typeface="Arial"/>
            </a:endParaRPr>
          </a:p>
        </p:txBody>
      </p:sp>
      <p:sp>
        <p:nvSpPr>
          <p:cNvPr id="144" name="Oval 21"/>
          <p:cNvSpPr/>
          <p:nvPr/>
        </p:nvSpPr>
        <p:spPr>
          <a:xfrm>
            <a:off x="8229600" y="1828800"/>
            <a:ext cx="2925720" cy="2559960"/>
          </a:xfrm>
          <a:prstGeom prst="ellipse">
            <a:avLst/>
          </a:prstGeom>
          <a:solidFill>
            <a:srgbClr val="F2F6FA"/>
          </a:solidFill>
          <a:ln>
            <a:solidFill>
              <a:srgbClr val="3764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1" u="none" strike="noStrike">
                <a:solidFill>
                  <a:srgbClr val="3764A0"/>
                </a:solidFill>
                <a:effectLst/>
                <a:uFillTx/>
                <a:latin typeface="Calibri"/>
              </a:rPr>
              <a:t>Tres círculos de valor: Productividad, Flexibilidad, Comunicación</a:t>
            </a:r>
            <a:endParaRPr lang="es-NI" sz="1800" b="0" u="none" strike="noStrike">
              <a:solidFill>
                <a:srgbClr val="000000"/>
              </a:solidFill>
              <a:effectLst/>
              <a:uFillTx/>
              <a:latin typeface="Arial"/>
            </a:endParaRPr>
          </a:p>
        </p:txBody>
      </p:sp>
      <p:sp>
        <p:nvSpPr>
          <p:cNvPr id="145" name="TextBox 63"/>
          <p:cNvSpPr/>
          <p:nvPr/>
        </p:nvSpPr>
        <p:spPr>
          <a:xfrm>
            <a:off x="594360" y="6446520"/>
            <a:ext cx="208080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21</a:t>
            </a:r>
            <a:endParaRPr lang="es-NI"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6" name="Rectangle 22"/>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7" name="TextBox 64"/>
          <p:cNvSpPr/>
          <p:nvPr/>
        </p:nvSpPr>
        <p:spPr>
          <a:xfrm>
            <a:off x="548640" y="320040"/>
            <a:ext cx="377460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Beneficio 1: productividad</a:t>
            </a:r>
            <a:endParaRPr lang="es-NI" sz="2600" b="0" u="none" strike="noStrike">
              <a:solidFill>
                <a:srgbClr val="000000"/>
              </a:solidFill>
              <a:effectLst/>
              <a:uFillTx/>
              <a:latin typeface="Arial"/>
            </a:endParaRPr>
          </a:p>
        </p:txBody>
      </p:sp>
      <p:sp>
        <p:nvSpPr>
          <p:cNvPr id="148" name="TextBox 65"/>
          <p:cNvSpPr/>
          <p:nvPr/>
        </p:nvSpPr>
        <p:spPr>
          <a:xfrm>
            <a:off x="731520" y="1417320"/>
            <a:ext cx="6583680" cy="1263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Menos fricción para compartir y acceder a información</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Mejor coordinación de tareas y procesos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Mayor visibilidad del avance colectivo</a:t>
            </a:r>
            <a:endParaRPr lang="es-NI" sz="1900" b="0" u="none" strike="noStrike">
              <a:solidFill>
                <a:srgbClr val="000000"/>
              </a:solidFill>
              <a:effectLst/>
              <a:uFillTx/>
              <a:latin typeface="Arial"/>
            </a:endParaRPr>
          </a:p>
        </p:txBody>
      </p:sp>
      <p:sp>
        <p:nvSpPr>
          <p:cNvPr id="149" name="Oval 22"/>
          <p:cNvSpPr/>
          <p:nvPr/>
        </p:nvSpPr>
        <p:spPr>
          <a:xfrm>
            <a:off x="7772400" y="1508760"/>
            <a:ext cx="3657240" cy="3474360"/>
          </a:xfrm>
          <a:prstGeom prst="ellipse">
            <a:avLst/>
          </a:prstGeom>
          <a:solidFill>
            <a:srgbClr val="F2F6FA"/>
          </a:solidFill>
          <a:ln>
            <a:solidFill>
              <a:srgbClr val="3764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1" u="none" strike="noStrike">
                <a:solidFill>
                  <a:srgbClr val="3764A0"/>
                </a:solidFill>
                <a:effectLst/>
                <a:uFillTx/>
                <a:latin typeface="Calibri"/>
              </a:rPr>
              <a:t>flujo de trabajo simplificado.</a:t>
            </a:r>
            <a:endParaRPr lang="es-NI" sz="1800" b="0" u="none" strike="noStrike">
              <a:solidFill>
                <a:srgbClr val="000000"/>
              </a:solidFill>
              <a:effectLst/>
              <a:uFillTx/>
              <a:latin typeface="Arial"/>
            </a:endParaRPr>
          </a:p>
        </p:txBody>
      </p:sp>
      <p:sp>
        <p:nvSpPr>
          <p:cNvPr id="150" name="TextBox 66"/>
          <p:cNvSpPr/>
          <p:nvPr/>
        </p:nvSpPr>
        <p:spPr>
          <a:xfrm>
            <a:off x="594360" y="6446520"/>
            <a:ext cx="208080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22</a:t>
            </a:r>
            <a:endParaRPr lang="es-NI"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1" name="Rectangle 23"/>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2" name="TextBox 67"/>
          <p:cNvSpPr/>
          <p:nvPr/>
        </p:nvSpPr>
        <p:spPr>
          <a:xfrm>
            <a:off x="548640" y="320040"/>
            <a:ext cx="338040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Beneficio 2: flexibilidad</a:t>
            </a:r>
            <a:endParaRPr lang="es-NI" sz="2600" b="0" u="none" strike="noStrike">
              <a:solidFill>
                <a:srgbClr val="000000"/>
              </a:solidFill>
              <a:effectLst/>
              <a:uFillTx/>
              <a:latin typeface="Arial"/>
            </a:endParaRPr>
          </a:p>
        </p:txBody>
      </p:sp>
      <p:sp>
        <p:nvSpPr>
          <p:cNvPr id="153" name="TextBox 68"/>
          <p:cNvSpPr/>
          <p:nvPr/>
        </p:nvSpPr>
        <p:spPr>
          <a:xfrm>
            <a:off x="731520" y="1417320"/>
            <a:ext cx="6583680" cy="1263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Trabajo desde diferentes lugares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Interacción en distintos momentos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Conexión ágil entre equipos y organizaciones</a:t>
            </a:r>
            <a:endParaRPr lang="es-NI" sz="1900" b="0" u="none" strike="noStrike">
              <a:solidFill>
                <a:srgbClr val="000000"/>
              </a:solidFill>
              <a:effectLst/>
              <a:uFillTx/>
              <a:latin typeface="Arial"/>
            </a:endParaRPr>
          </a:p>
        </p:txBody>
      </p:sp>
      <p:sp>
        <p:nvSpPr>
          <p:cNvPr id="154" name="Oval 23"/>
          <p:cNvSpPr/>
          <p:nvPr/>
        </p:nvSpPr>
        <p:spPr>
          <a:xfrm>
            <a:off x="7772400" y="1508760"/>
            <a:ext cx="3657240" cy="3474360"/>
          </a:xfrm>
          <a:prstGeom prst="ellipse">
            <a:avLst/>
          </a:prstGeom>
          <a:solidFill>
            <a:srgbClr val="F2F6FA"/>
          </a:solidFill>
          <a:ln>
            <a:solidFill>
              <a:srgbClr val="3764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1" u="none" strike="noStrike">
                <a:solidFill>
                  <a:srgbClr val="3764A0"/>
                </a:solidFill>
                <a:effectLst/>
                <a:uFillTx/>
                <a:latin typeface="Calibri"/>
              </a:rPr>
              <a:t>equipo distribuido conectado.</a:t>
            </a:r>
            <a:endParaRPr lang="es-NI" sz="1800" b="0" u="none" strike="noStrike">
              <a:solidFill>
                <a:srgbClr val="000000"/>
              </a:solidFill>
              <a:effectLst/>
              <a:uFillTx/>
              <a:latin typeface="Arial"/>
            </a:endParaRPr>
          </a:p>
        </p:txBody>
      </p:sp>
      <p:sp>
        <p:nvSpPr>
          <p:cNvPr id="155" name="TextBox 69"/>
          <p:cNvSpPr/>
          <p:nvPr/>
        </p:nvSpPr>
        <p:spPr>
          <a:xfrm>
            <a:off x="594360" y="6446520"/>
            <a:ext cx="208080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23</a:t>
            </a:r>
            <a:endParaRPr lang="es-NI"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6" name="Rectangle 24"/>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7" name="TextBox 70"/>
          <p:cNvSpPr/>
          <p:nvPr/>
        </p:nvSpPr>
        <p:spPr>
          <a:xfrm>
            <a:off x="548640" y="320040"/>
            <a:ext cx="375732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Beneficio 3: comunicación</a:t>
            </a:r>
            <a:endParaRPr lang="es-NI" sz="2600" b="0" u="none" strike="noStrike">
              <a:solidFill>
                <a:srgbClr val="000000"/>
              </a:solidFill>
              <a:effectLst/>
              <a:uFillTx/>
              <a:latin typeface="Arial"/>
            </a:endParaRPr>
          </a:p>
        </p:txBody>
      </p:sp>
      <p:sp>
        <p:nvSpPr>
          <p:cNvPr id="158" name="TextBox 71"/>
          <p:cNvSpPr/>
          <p:nvPr/>
        </p:nvSpPr>
        <p:spPr>
          <a:xfrm>
            <a:off x="731520" y="1417320"/>
            <a:ext cx="6583680" cy="1263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Canales múltiples según la necesidad</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Mayor rapidez y registro de intercambios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Posibilidad de integrar texto, voz, video y archivos</a:t>
            </a:r>
            <a:endParaRPr lang="es-NI" sz="1900" b="0" u="none" strike="noStrike">
              <a:solidFill>
                <a:srgbClr val="000000"/>
              </a:solidFill>
              <a:effectLst/>
              <a:uFillTx/>
              <a:latin typeface="Arial"/>
            </a:endParaRPr>
          </a:p>
        </p:txBody>
      </p:sp>
      <p:sp>
        <p:nvSpPr>
          <p:cNvPr id="159" name="Oval 24"/>
          <p:cNvSpPr/>
          <p:nvPr/>
        </p:nvSpPr>
        <p:spPr>
          <a:xfrm>
            <a:off x="7772400" y="1508760"/>
            <a:ext cx="3657240" cy="3474360"/>
          </a:xfrm>
          <a:prstGeom prst="ellipse">
            <a:avLst/>
          </a:prstGeom>
          <a:solidFill>
            <a:srgbClr val="F2F6FA"/>
          </a:solidFill>
          <a:ln>
            <a:solidFill>
              <a:srgbClr val="3764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1" u="none" strike="noStrike">
                <a:solidFill>
                  <a:srgbClr val="3764A0"/>
                </a:solidFill>
                <a:effectLst/>
                <a:uFillTx/>
                <a:latin typeface="Calibri"/>
              </a:rPr>
              <a:t>iconos de canales convergentes.</a:t>
            </a:r>
            <a:endParaRPr lang="es-NI" sz="1800" b="0" u="none" strike="noStrike">
              <a:solidFill>
                <a:srgbClr val="000000"/>
              </a:solidFill>
              <a:effectLst/>
              <a:uFillTx/>
              <a:latin typeface="Arial"/>
            </a:endParaRPr>
          </a:p>
        </p:txBody>
      </p:sp>
      <p:sp>
        <p:nvSpPr>
          <p:cNvPr id="160" name="TextBox 72"/>
          <p:cNvSpPr/>
          <p:nvPr/>
        </p:nvSpPr>
        <p:spPr>
          <a:xfrm>
            <a:off x="594360" y="6446520"/>
            <a:ext cx="208080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24</a:t>
            </a:r>
            <a:endParaRPr lang="es-NI"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1" name="Rectangle 25"/>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2" name="TextBox 73"/>
          <p:cNvSpPr/>
          <p:nvPr/>
        </p:nvSpPr>
        <p:spPr>
          <a:xfrm>
            <a:off x="548640" y="320040"/>
            <a:ext cx="608580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Caso profesional: colaboración empresarial</a:t>
            </a:r>
            <a:endParaRPr lang="es-NI" sz="2600" b="0" u="none" strike="noStrike">
              <a:solidFill>
                <a:srgbClr val="000000"/>
              </a:solidFill>
              <a:effectLst/>
              <a:uFillTx/>
              <a:latin typeface="Arial"/>
            </a:endParaRPr>
          </a:p>
        </p:txBody>
      </p:sp>
      <p:sp>
        <p:nvSpPr>
          <p:cNvPr id="163" name="TextBox 74"/>
          <p:cNvSpPr/>
          <p:nvPr/>
        </p:nvSpPr>
        <p:spPr>
          <a:xfrm>
            <a:off x="731520" y="1417320"/>
            <a:ext cx="6583680" cy="1263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Equipo distribuido y múltiples áreas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Mensajes + archivos + reuniones + tareas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Objetivo: coordinar trabajo transversal</a:t>
            </a:r>
            <a:endParaRPr lang="es-NI" sz="1900" b="0" u="none" strike="noStrike">
              <a:solidFill>
                <a:srgbClr val="000000"/>
              </a:solidFill>
              <a:effectLst/>
              <a:uFillTx/>
              <a:latin typeface="Arial"/>
            </a:endParaRPr>
          </a:p>
        </p:txBody>
      </p:sp>
      <p:sp>
        <p:nvSpPr>
          <p:cNvPr id="164" name="Oval 25"/>
          <p:cNvSpPr/>
          <p:nvPr/>
        </p:nvSpPr>
        <p:spPr>
          <a:xfrm>
            <a:off x="7772400" y="1508760"/>
            <a:ext cx="3657240" cy="3474360"/>
          </a:xfrm>
          <a:prstGeom prst="ellipse">
            <a:avLst/>
          </a:prstGeom>
          <a:solidFill>
            <a:srgbClr val="F2F6FA"/>
          </a:solidFill>
          <a:ln>
            <a:solidFill>
              <a:srgbClr val="3764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1" u="none" strike="noStrike">
                <a:solidFill>
                  <a:srgbClr val="3764A0"/>
                </a:solidFill>
                <a:effectLst/>
                <a:uFillTx/>
                <a:latin typeface="Calibri"/>
              </a:rPr>
              <a:t>empresa con departamentos conectados.</a:t>
            </a:r>
            <a:endParaRPr lang="es-NI" sz="1800" b="0" u="none" strike="noStrike">
              <a:solidFill>
                <a:srgbClr val="000000"/>
              </a:solidFill>
              <a:effectLst/>
              <a:uFillTx/>
              <a:latin typeface="Arial"/>
            </a:endParaRPr>
          </a:p>
        </p:txBody>
      </p:sp>
      <p:sp>
        <p:nvSpPr>
          <p:cNvPr id="165" name="TextBox 75"/>
          <p:cNvSpPr/>
          <p:nvPr/>
        </p:nvSpPr>
        <p:spPr>
          <a:xfrm>
            <a:off x="594360" y="6446520"/>
            <a:ext cx="208080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25</a:t>
            </a:r>
            <a:endParaRPr lang="es-NI"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6" name="Rectangle 26"/>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7" name="TextBox 76"/>
          <p:cNvSpPr/>
          <p:nvPr/>
        </p:nvSpPr>
        <p:spPr>
          <a:xfrm>
            <a:off x="548640" y="320040"/>
            <a:ext cx="556380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Caso académico: proyecto universitario</a:t>
            </a:r>
            <a:endParaRPr lang="es-NI" sz="2600" b="0" u="none" strike="noStrike">
              <a:solidFill>
                <a:srgbClr val="000000"/>
              </a:solidFill>
              <a:effectLst/>
              <a:uFillTx/>
              <a:latin typeface="Arial"/>
            </a:endParaRPr>
          </a:p>
        </p:txBody>
      </p:sp>
      <p:sp>
        <p:nvSpPr>
          <p:cNvPr id="168" name="TextBox 77"/>
          <p:cNvSpPr/>
          <p:nvPr/>
        </p:nvSpPr>
        <p:spPr>
          <a:xfrm>
            <a:off x="731520" y="1417320"/>
            <a:ext cx="6583680" cy="1263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Foro o chat para discutir</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Tablero o calendario para organizar</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Documento compartido para producir el entregable</a:t>
            </a:r>
            <a:endParaRPr lang="es-NI" sz="1900" b="0" u="none" strike="noStrike">
              <a:solidFill>
                <a:srgbClr val="000000"/>
              </a:solidFill>
              <a:effectLst/>
              <a:uFillTx/>
              <a:latin typeface="Arial"/>
            </a:endParaRPr>
          </a:p>
        </p:txBody>
      </p:sp>
      <p:sp>
        <p:nvSpPr>
          <p:cNvPr id="169" name="Oval 26"/>
          <p:cNvSpPr/>
          <p:nvPr/>
        </p:nvSpPr>
        <p:spPr>
          <a:xfrm>
            <a:off x="7772400" y="1508760"/>
            <a:ext cx="3657240" cy="3474360"/>
          </a:xfrm>
          <a:prstGeom prst="ellipse">
            <a:avLst/>
          </a:prstGeom>
          <a:solidFill>
            <a:srgbClr val="F2F6FA"/>
          </a:solidFill>
          <a:ln>
            <a:solidFill>
              <a:srgbClr val="3764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1" u="none" strike="noStrike">
                <a:solidFill>
                  <a:srgbClr val="3764A0"/>
                </a:solidFill>
                <a:effectLst/>
                <a:uFillTx/>
                <a:latin typeface="Calibri"/>
              </a:rPr>
              <a:t>estudiante/equipo + tres herramientas.</a:t>
            </a:r>
            <a:endParaRPr lang="es-NI" sz="1800" b="0" u="none" strike="noStrike">
              <a:solidFill>
                <a:srgbClr val="000000"/>
              </a:solidFill>
              <a:effectLst/>
              <a:uFillTx/>
              <a:latin typeface="Arial"/>
            </a:endParaRPr>
          </a:p>
        </p:txBody>
      </p:sp>
      <p:sp>
        <p:nvSpPr>
          <p:cNvPr id="170" name="TextBox 78"/>
          <p:cNvSpPr/>
          <p:nvPr/>
        </p:nvSpPr>
        <p:spPr>
          <a:xfrm>
            <a:off x="594360" y="6446520"/>
            <a:ext cx="208080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26</a:t>
            </a:r>
            <a:endParaRPr lang="es-NI"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1" name="Rectangle 27"/>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2" name="TextBox 79"/>
          <p:cNvSpPr/>
          <p:nvPr/>
        </p:nvSpPr>
        <p:spPr>
          <a:xfrm>
            <a:off x="548640" y="320040"/>
            <a:ext cx="461412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Caso social e interorganizacional</a:t>
            </a:r>
            <a:endParaRPr lang="es-NI" sz="2600" b="0" u="none" strike="noStrike">
              <a:solidFill>
                <a:srgbClr val="000000"/>
              </a:solidFill>
              <a:effectLst/>
              <a:uFillTx/>
              <a:latin typeface="Arial"/>
            </a:endParaRPr>
          </a:p>
        </p:txBody>
      </p:sp>
      <p:sp>
        <p:nvSpPr>
          <p:cNvPr id="173" name="TextBox 80"/>
          <p:cNvSpPr/>
          <p:nvPr/>
        </p:nvSpPr>
        <p:spPr>
          <a:xfrm>
            <a:off x="731520" y="1417320"/>
            <a:ext cx="6583680" cy="1263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Comunidades conectadas por objetivos comunes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Intercambio de información y coordinación de actores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Colaboración para responder a necesidades compartidas</a:t>
            </a:r>
            <a:endParaRPr lang="es-NI" sz="1900" b="0" u="none" strike="noStrike">
              <a:solidFill>
                <a:srgbClr val="000000"/>
              </a:solidFill>
              <a:effectLst/>
              <a:uFillTx/>
              <a:latin typeface="Arial"/>
            </a:endParaRPr>
          </a:p>
        </p:txBody>
      </p:sp>
      <p:sp>
        <p:nvSpPr>
          <p:cNvPr id="174" name="Oval 27"/>
          <p:cNvSpPr/>
          <p:nvPr/>
        </p:nvSpPr>
        <p:spPr>
          <a:xfrm>
            <a:off x="7772400" y="1508760"/>
            <a:ext cx="3657240" cy="3474360"/>
          </a:xfrm>
          <a:prstGeom prst="ellipse">
            <a:avLst/>
          </a:prstGeom>
          <a:solidFill>
            <a:srgbClr val="F2F6FA"/>
          </a:solidFill>
          <a:ln>
            <a:solidFill>
              <a:srgbClr val="3764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1" u="none" strike="noStrike">
                <a:solidFill>
                  <a:srgbClr val="3764A0"/>
                </a:solidFill>
                <a:effectLst/>
                <a:uFillTx/>
                <a:latin typeface="Calibri"/>
              </a:rPr>
              <a:t>comunidad/red de organizaciones.</a:t>
            </a:r>
            <a:endParaRPr lang="es-NI" sz="1800" b="0" u="none" strike="noStrike">
              <a:solidFill>
                <a:srgbClr val="000000"/>
              </a:solidFill>
              <a:effectLst/>
              <a:uFillTx/>
              <a:latin typeface="Arial"/>
            </a:endParaRPr>
          </a:p>
        </p:txBody>
      </p:sp>
      <p:sp>
        <p:nvSpPr>
          <p:cNvPr id="175" name="TextBox 81"/>
          <p:cNvSpPr/>
          <p:nvPr/>
        </p:nvSpPr>
        <p:spPr>
          <a:xfrm>
            <a:off x="594360" y="6446520"/>
            <a:ext cx="208080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27</a:t>
            </a:r>
            <a:endParaRPr lang="es-NI"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6" name="Rectangle 28"/>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7" name="TextBox 82"/>
          <p:cNvSpPr/>
          <p:nvPr/>
        </p:nvSpPr>
        <p:spPr>
          <a:xfrm>
            <a:off x="548640" y="320040"/>
            <a:ext cx="621792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Matriz de análisis para cualquier plataforma</a:t>
            </a:r>
            <a:endParaRPr lang="es-NI" sz="2600" b="0" u="none" strike="noStrike">
              <a:solidFill>
                <a:srgbClr val="000000"/>
              </a:solidFill>
              <a:effectLst/>
              <a:uFillTx/>
              <a:latin typeface="Arial"/>
            </a:endParaRPr>
          </a:p>
        </p:txBody>
      </p:sp>
      <p:sp>
        <p:nvSpPr>
          <p:cNvPr id="178" name="TextBox 83"/>
          <p:cNvSpPr/>
          <p:nvPr/>
        </p:nvSpPr>
        <p:spPr>
          <a:xfrm>
            <a:off x="731520" y="1417320"/>
            <a:ext cx="6583680" cy="1704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¿Cómo comunica?</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¿Cómo coordina?</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¿Cómo permite cooperar y producir?</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¿Qué reglas de seguridad y gobernanza requiere?</a:t>
            </a:r>
            <a:endParaRPr lang="es-NI" sz="1900" b="0" u="none" strike="noStrike">
              <a:solidFill>
                <a:srgbClr val="000000"/>
              </a:solidFill>
              <a:effectLst/>
              <a:uFillTx/>
              <a:latin typeface="Arial"/>
            </a:endParaRPr>
          </a:p>
        </p:txBody>
      </p:sp>
      <p:sp>
        <p:nvSpPr>
          <p:cNvPr id="179" name="Oval 28"/>
          <p:cNvSpPr/>
          <p:nvPr/>
        </p:nvSpPr>
        <p:spPr>
          <a:xfrm>
            <a:off x="7772400" y="1508760"/>
            <a:ext cx="3657240" cy="3474360"/>
          </a:xfrm>
          <a:prstGeom prst="ellipse">
            <a:avLst/>
          </a:prstGeom>
          <a:solidFill>
            <a:srgbClr val="F2F6FA"/>
          </a:solidFill>
          <a:ln>
            <a:solidFill>
              <a:srgbClr val="3764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1" u="none" strike="noStrike">
                <a:solidFill>
                  <a:srgbClr val="3764A0"/>
                </a:solidFill>
                <a:effectLst/>
                <a:uFillTx/>
                <a:latin typeface="Calibri"/>
              </a:rPr>
              <a:t>plantilla 3C + Gobernanza.</a:t>
            </a:r>
            <a:endParaRPr lang="es-NI" sz="1800" b="0" u="none" strike="noStrike">
              <a:solidFill>
                <a:srgbClr val="000000"/>
              </a:solidFill>
              <a:effectLst/>
              <a:uFillTx/>
              <a:latin typeface="Arial"/>
            </a:endParaRPr>
          </a:p>
        </p:txBody>
      </p:sp>
      <p:sp>
        <p:nvSpPr>
          <p:cNvPr id="180" name="TextBox 84"/>
          <p:cNvSpPr/>
          <p:nvPr/>
        </p:nvSpPr>
        <p:spPr>
          <a:xfrm>
            <a:off x="594360" y="6446520"/>
            <a:ext cx="208080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28</a:t>
            </a:r>
            <a:endParaRPr lang="es-NI"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1" name="Rectangle 29"/>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2" name="TextBox 85"/>
          <p:cNvSpPr/>
          <p:nvPr/>
        </p:nvSpPr>
        <p:spPr>
          <a:xfrm>
            <a:off x="548640" y="320040"/>
            <a:ext cx="604152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BLOQUE 4 · Cierre activo y reflexión guiada</a:t>
            </a:r>
            <a:endParaRPr lang="es-NI" sz="2600" b="0" u="none" strike="noStrike">
              <a:solidFill>
                <a:srgbClr val="000000"/>
              </a:solidFill>
              <a:effectLst/>
              <a:uFillTx/>
              <a:latin typeface="Arial"/>
            </a:endParaRPr>
          </a:p>
        </p:txBody>
      </p:sp>
      <p:sp>
        <p:nvSpPr>
          <p:cNvPr id="183" name="TextBox 86"/>
          <p:cNvSpPr/>
          <p:nvPr/>
        </p:nvSpPr>
        <p:spPr>
          <a:xfrm>
            <a:off x="914400" y="1828800"/>
            <a:ext cx="7132320" cy="1263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De la experiencia cotidiana al análisis conceptual</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Reconocer prácticas que ya realizamos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Nombrarlas con el modelo 3C</a:t>
            </a:r>
            <a:endParaRPr lang="es-NI" sz="1900" b="0" u="none" strike="noStrike">
              <a:solidFill>
                <a:srgbClr val="000000"/>
              </a:solidFill>
              <a:effectLst/>
              <a:uFillTx/>
              <a:latin typeface="Arial"/>
            </a:endParaRPr>
          </a:p>
        </p:txBody>
      </p:sp>
      <p:sp>
        <p:nvSpPr>
          <p:cNvPr id="184" name="Oval 29"/>
          <p:cNvSpPr/>
          <p:nvPr/>
        </p:nvSpPr>
        <p:spPr>
          <a:xfrm>
            <a:off x="8229600" y="1828800"/>
            <a:ext cx="2925720" cy="2559960"/>
          </a:xfrm>
          <a:prstGeom prst="ellipse">
            <a:avLst/>
          </a:prstGeom>
          <a:solidFill>
            <a:srgbClr val="F2F6FA"/>
          </a:solidFill>
          <a:ln>
            <a:solidFill>
              <a:srgbClr val="3764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1" u="none" strike="noStrike">
                <a:solidFill>
                  <a:srgbClr val="3764A0"/>
                </a:solidFill>
                <a:effectLst/>
                <a:uFillTx/>
                <a:latin typeface="Calibri"/>
              </a:rPr>
              <a:t>Experiencia → Análisis → Concepto.</a:t>
            </a:r>
            <a:endParaRPr lang="es-NI" sz="1800" b="0" u="none" strike="noStrike">
              <a:solidFill>
                <a:srgbClr val="000000"/>
              </a:solidFill>
              <a:effectLst/>
              <a:uFillTx/>
              <a:latin typeface="Arial"/>
            </a:endParaRPr>
          </a:p>
        </p:txBody>
      </p:sp>
      <p:sp>
        <p:nvSpPr>
          <p:cNvPr id="185" name="TextBox 87"/>
          <p:cNvSpPr/>
          <p:nvPr/>
        </p:nvSpPr>
        <p:spPr>
          <a:xfrm>
            <a:off x="594360" y="6446520"/>
            <a:ext cx="208080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29</a:t>
            </a:r>
            <a:endParaRPr lang="es-NI"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6" name="Rectangle 30"/>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7" name="TextBox 88"/>
          <p:cNvSpPr/>
          <p:nvPr/>
        </p:nvSpPr>
        <p:spPr>
          <a:xfrm>
            <a:off x="548640" y="320040"/>
            <a:ext cx="712332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Actividad de cierre · Reconstruye tu experiencia 3C</a:t>
            </a:r>
            <a:endParaRPr lang="es-NI" sz="2600" b="0" u="none" strike="noStrike">
              <a:solidFill>
                <a:srgbClr val="000000"/>
              </a:solidFill>
              <a:effectLst/>
              <a:uFillTx/>
              <a:latin typeface="Arial"/>
            </a:endParaRPr>
          </a:p>
        </p:txBody>
      </p:sp>
      <p:sp>
        <p:nvSpPr>
          <p:cNvPr id="188" name="TextBox 89"/>
          <p:cNvSpPr/>
          <p:nvPr/>
        </p:nvSpPr>
        <p:spPr>
          <a:xfrm>
            <a:off x="731520" y="1417320"/>
            <a:ext cx="6583680" cy="1994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Piensa en correo, foros, chat, videollamadas o documentos compartidos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¿Cómo te comunicabas con otras personas?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¿Cómo coordinaban tareas, tiempos o responsables?</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¿Sobre qué recurso o producto cooperaban?</a:t>
            </a:r>
            <a:endParaRPr lang="es-NI" sz="1900" b="0" u="none" strike="noStrike">
              <a:solidFill>
                <a:srgbClr val="000000"/>
              </a:solidFill>
              <a:effectLst/>
              <a:uFillTx/>
              <a:latin typeface="Arial"/>
            </a:endParaRPr>
          </a:p>
        </p:txBody>
      </p:sp>
      <p:sp>
        <p:nvSpPr>
          <p:cNvPr id="189" name="Oval 30"/>
          <p:cNvSpPr/>
          <p:nvPr/>
        </p:nvSpPr>
        <p:spPr>
          <a:xfrm>
            <a:off x="7772400" y="1508760"/>
            <a:ext cx="3657240" cy="3474360"/>
          </a:xfrm>
          <a:prstGeom prst="ellipse">
            <a:avLst/>
          </a:prstGeom>
          <a:solidFill>
            <a:srgbClr val="F2F6FA"/>
          </a:solidFill>
          <a:ln>
            <a:solidFill>
              <a:srgbClr val="3764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1" u="none" strike="noStrike">
                <a:solidFill>
                  <a:srgbClr val="3764A0"/>
                </a:solidFill>
                <a:effectLst/>
                <a:uFillTx/>
                <a:latin typeface="Calibri"/>
              </a:rPr>
              <a:t>plantilla con tres columnas C–C–C.</a:t>
            </a:r>
            <a:endParaRPr lang="es-NI" sz="1800" b="0" u="none" strike="noStrike">
              <a:solidFill>
                <a:srgbClr val="000000"/>
              </a:solidFill>
              <a:effectLst/>
              <a:uFillTx/>
              <a:latin typeface="Arial"/>
            </a:endParaRPr>
          </a:p>
        </p:txBody>
      </p:sp>
      <p:sp>
        <p:nvSpPr>
          <p:cNvPr id="190" name="TextBox 90"/>
          <p:cNvSpPr/>
          <p:nvPr/>
        </p:nvSpPr>
        <p:spPr>
          <a:xfrm>
            <a:off x="594360" y="6446520"/>
            <a:ext cx="208080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30</a:t>
            </a:r>
            <a:endParaRPr lang="es-NI"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1" name="Rectangle 31"/>
          <p:cNvSpPr/>
          <p:nvPr/>
        </p:nvSpPr>
        <p:spPr>
          <a:xfrm>
            <a:off x="0" y="0"/>
            <a:ext cx="12191760" cy="145800"/>
          </a:xfrm>
          <a:prstGeom prst="rect">
            <a:avLst/>
          </a:prstGeom>
          <a:solidFill>
            <a:srgbClr val="24878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2" name="TextBox 91"/>
          <p:cNvSpPr/>
          <p:nvPr/>
        </p:nvSpPr>
        <p:spPr>
          <a:xfrm>
            <a:off x="548640" y="320040"/>
            <a:ext cx="713016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Reflexión final · ¿Qué valor añade una plataforma?</a:t>
            </a:r>
            <a:endParaRPr lang="es-NI" sz="2600" b="0" u="none" strike="noStrike">
              <a:solidFill>
                <a:srgbClr val="000000"/>
              </a:solidFill>
              <a:effectLst/>
              <a:uFillTx/>
              <a:latin typeface="Arial"/>
            </a:endParaRPr>
          </a:p>
        </p:txBody>
      </p:sp>
      <p:sp>
        <p:nvSpPr>
          <p:cNvPr id="193" name="TextBox 92"/>
          <p:cNvSpPr/>
          <p:nvPr/>
        </p:nvSpPr>
        <p:spPr>
          <a:xfrm>
            <a:off x="731520" y="1417320"/>
            <a:ext cx="6583680" cy="1263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No es la herramienta: es el problema que ayuda a resolver</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El valor aparece cuando mejora la acción colectiva</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Elegir tecnología implica considerar beneficios y gobernanza</a:t>
            </a:r>
            <a:endParaRPr lang="es-NI" sz="1900" b="0" u="none" strike="noStrike">
              <a:solidFill>
                <a:srgbClr val="000000"/>
              </a:solidFill>
              <a:effectLst/>
              <a:uFillTx/>
              <a:latin typeface="Arial"/>
            </a:endParaRPr>
          </a:p>
        </p:txBody>
      </p:sp>
      <p:sp>
        <p:nvSpPr>
          <p:cNvPr id="194" name="Oval 31"/>
          <p:cNvSpPr/>
          <p:nvPr/>
        </p:nvSpPr>
        <p:spPr>
          <a:xfrm>
            <a:off x="7772400" y="1508760"/>
            <a:ext cx="3657240" cy="3474360"/>
          </a:xfrm>
          <a:prstGeom prst="ellipse">
            <a:avLst/>
          </a:prstGeom>
          <a:solidFill>
            <a:srgbClr val="F2F6FA"/>
          </a:solidFill>
          <a:ln>
            <a:solidFill>
              <a:srgbClr val="3764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1" u="none" strike="noStrike">
                <a:solidFill>
                  <a:srgbClr val="3764A0"/>
                </a:solidFill>
                <a:effectLst/>
                <a:uFillTx/>
                <a:latin typeface="Calibri"/>
              </a:rPr>
              <a:t>Problema → Capacidad 3C → Beneficio → Resultado.</a:t>
            </a:r>
            <a:endParaRPr lang="es-NI" sz="1800" b="0" u="none" strike="noStrike">
              <a:solidFill>
                <a:srgbClr val="000000"/>
              </a:solidFill>
              <a:effectLst/>
              <a:uFillTx/>
              <a:latin typeface="Arial"/>
            </a:endParaRPr>
          </a:p>
        </p:txBody>
      </p:sp>
      <p:sp>
        <p:nvSpPr>
          <p:cNvPr id="195" name="TextBox 93"/>
          <p:cNvSpPr/>
          <p:nvPr/>
        </p:nvSpPr>
        <p:spPr>
          <a:xfrm>
            <a:off x="594360" y="6446520"/>
            <a:ext cx="2080800" cy="2278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900" b="0" u="none" strike="noStrike">
                <a:solidFill>
                  <a:srgbClr val="696E78"/>
                </a:solidFill>
                <a:effectLst/>
                <a:uFillTx/>
                <a:latin typeface="Calibri"/>
              </a:rPr>
              <a:t>Plataformas de colaboración digital  |  31</a:t>
            </a:r>
            <a:endParaRPr lang="es-NI"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TextBox 94"/>
          <p:cNvSpPr/>
          <p:nvPr/>
        </p:nvSpPr>
        <p:spPr>
          <a:xfrm>
            <a:off x="548640" y="320040"/>
            <a:ext cx="573552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1" u="none" strike="noStrike">
                <a:solidFill>
                  <a:srgbClr val="192D4B"/>
                </a:solidFill>
                <a:effectLst/>
                <a:uFillTx/>
                <a:latin typeface="Calibri"/>
              </a:rPr>
              <a:t>Fuentes conceptuales de la presentación</a:t>
            </a:r>
            <a:endParaRPr lang="es-NI" sz="2600" b="0" u="none" strike="noStrike">
              <a:solidFill>
                <a:srgbClr val="000000"/>
              </a:solidFill>
              <a:effectLst/>
              <a:uFillTx/>
              <a:latin typeface="Arial"/>
            </a:endParaRPr>
          </a:p>
        </p:txBody>
      </p:sp>
      <p:sp>
        <p:nvSpPr>
          <p:cNvPr id="197" name="TextBox 95"/>
          <p:cNvSpPr/>
          <p:nvPr/>
        </p:nvSpPr>
        <p:spPr>
          <a:xfrm>
            <a:off x="594360" y="914400"/>
            <a:ext cx="3800160" cy="2732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200" b="0" u="none" strike="noStrike">
                <a:solidFill>
                  <a:srgbClr val="696E78"/>
                </a:solidFill>
                <a:effectLst/>
                <a:uFillTx/>
                <a:latin typeface="Calibri"/>
              </a:rPr>
              <a:t>Síntesis basada en el material de referencia proporcionado</a:t>
            </a:r>
            <a:endParaRPr lang="es-NI" sz="1200" b="0" u="none" strike="noStrike">
              <a:solidFill>
                <a:srgbClr val="000000"/>
              </a:solidFill>
              <a:effectLst/>
              <a:uFillTx/>
              <a:latin typeface="Arial"/>
            </a:endParaRPr>
          </a:p>
        </p:txBody>
      </p:sp>
      <p:sp>
        <p:nvSpPr>
          <p:cNvPr id="198" name="TextBox 96"/>
          <p:cNvSpPr/>
          <p:nvPr/>
        </p:nvSpPr>
        <p:spPr>
          <a:xfrm>
            <a:off x="822960" y="1554480"/>
            <a:ext cx="9875520" cy="1704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900" b="0" u="none" strike="noStrike">
                <a:solidFill>
                  <a:srgbClr val="232323"/>
                </a:solidFill>
                <a:effectLst/>
                <a:uFillTx/>
                <a:latin typeface="Calibri"/>
              </a:rPr>
              <a:t>• Fuchs et al. (2010): Web 1.0, 2.0 y 3.0</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Fuks et al. (2005; 2008): Modelo 3C</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Riemer et al. (2009): eCollaboration</a:t>
            </a:r>
            <a:endParaRPr lang="es-NI" sz="1900" b="0" u="none" strike="noStrike">
              <a:solidFill>
                <a:srgbClr val="000000"/>
              </a:solidFill>
              <a:effectLst/>
              <a:uFillTx/>
              <a:latin typeface="Arial"/>
            </a:endParaRPr>
          </a:p>
          <a:p>
            <a:pPr defTabSz="457200">
              <a:lnSpc>
                <a:spcPct val="100000"/>
              </a:lnSpc>
              <a:spcAft>
                <a:spcPts val="1199"/>
              </a:spcAft>
            </a:pPr>
            <a:r>
              <a:rPr lang="en-US" sz="1900" b="0" u="none" strike="noStrike">
                <a:solidFill>
                  <a:srgbClr val="232323"/>
                </a:solidFill>
                <a:effectLst/>
                <a:uFillTx/>
                <a:latin typeface="Calibri"/>
              </a:rPr>
              <a:t>• Reim et al. (2022), Chinangkulpiwat et al. (2023) y otros estudios recopilados</a:t>
            </a:r>
            <a:endParaRPr lang="es-NI" sz="1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Franklin Gothic">
      <a:majorFont>
        <a:latin typeface="Franklin Gothic Medium" panose="020B0603020102020204" pitchFamily="0" charset="1"/>
        <a:ea typeface=""/>
        <a:cs typeface=""/>
      </a:majorFont>
      <a:minorFont>
        <a:latin typeface="Franklin Gothic Book" panose="020B05030201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944</TotalTime>
  <Application>LibreOffice/26.2.5.2$Windows_X86_64 LibreOffice_project/cd7284b4cbbfeb507e630c1aac019f4157393acb</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2019-03-11T22:56:21Z</dcterms:created>
  <dc:creator>Gloria Cordero</dc:creator>
  <dc:description/>
  <dc:language>es-NI</dc:language>
  <cp:lastModifiedBy/>
  <dcterms:modified xsi:type="dcterms:W3CDTF">2026-09-02T11:08:23Z</dcterms:modified>
  <cp:revision>12</cp:revision>
  <dc:subject/>
  <dc:title>Presentación de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Panorámica</vt:lpwstr>
  </property>
  <property fmtid="{D5CDD505-2E9C-101B-9397-08002B2CF9AE}" pid="3" name="Slides">
    <vt:i4>6</vt:i4>
  </property>
</Properties>
</file>